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58" r:id="rId3"/>
    <p:sldId id="260" r:id="rId4"/>
    <p:sldId id="261" r:id="rId5"/>
    <p:sldId id="270" r:id="rId6"/>
    <p:sldId id="262" r:id="rId7"/>
    <p:sldId id="264" r:id="rId8"/>
    <p:sldId id="265" r:id="rId9"/>
    <p:sldId id="266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parajita Sah" userId="58df650a9b28e738" providerId="LiveId" clId="{B2A23491-897E-4100-A280-E6ABBF3F6805}"/>
    <pc:docChg chg="delSld modSld">
      <pc:chgData name="Aparajita Sah" userId="58df650a9b28e738" providerId="LiveId" clId="{B2A23491-897E-4100-A280-E6ABBF3F6805}" dt="2026-04-21T22:23:19.981" v="15" actId="20577"/>
      <pc:docMkLst>
        <pc:docMk/>
      </pc:docMkLst>
      <pc:sldChg chg="modSp mod">
        <pc:chgData name="Aparajita Sah" userId="58df650a9b28e738" providerId="LiveId" clId="{B2A23491-897E-4100-A280-E6ABBF3F6805}" dt="2026-04-21T22:23:19.981" v="15" actId="20577"/>
        <pc:sldMkLst>
          <pc:docMk/>
          <pc:sldMk cId="0" sldId="257"/>
        </pc:sldMkLst>
        <pc:spChg chg="mod">
          <ac:chgData name="Aparajita Sah" userId="58df650a9b28e738" providerId="LiveId" clId="{B2A23491-897E-4100-A280-E6ABBF3F6805}" dt="2026-04-21T22:23:19.981" v="15" actId="20577"/>
          <ac:spMkLst>
            <pc:docMk/>
            <pc:sldMk cId="0" sldId="257"/>
            <ac:spMk id="1048586" creationId="{00000000-0000-0000-0000-000000000000}"/>
          </ac:spMkLst>
        </pc:spChg>
      </pc:sldChg>
      <pc:sldChg chg="del">
        <pc:chgData name="Aparajita Sah" userId="58df650a9b28e738" providerId="LiveId" clId="{B2A23491-897E-4100-A280-E6ABBF3F6805}" dt="2026-04-21T22:22:33.833" v="0" actId="2696"/>
        <pc:sldMkLst>
          <pc:docMk/>
          <pc:sldMk cId="4223897615" sldId="283"/>
        </pc:sldMkLst>
      </pc:sldChg>
      <pc:sldChg chg="del">
        <pc:chgData name="Aparajita Sah" userId="58df650a9b28e738" providerId="LiveId" clId="{B2A23491-897E-4100-A280-E6ABBF3F6805}" dt="2026-04-21T22:22:38.697" v="2" actId="2696"/>
        <pc:sldMkLst>
          <pc:docMk/>
          <pc:sldMk cId="3491950074" sldId="288"/>
        </pc:sldMkLst>
      </pc:sldChg>
      <pc:sldChg chg="del">
        <pc:chgData name="Aparajita Sah" userId="58df650a9b28e738" providerId="LiveId" clId="{B2A23491-897E-4100-A280-E6ABBF3F6805}" dt="2026-04-21T22:22:50.495" v="6" actId="2696"/>
        <pc:sldMkLst>
          <pc:docMk/>
          <pc:sldMk cId="144166092" sldId="290"/>
        </pc:sldMkLst>
      </pc:sldChg>
      <pc:sldChg chg="del">
        <pc:chgData name="Aparajita Sah" userId="58df650a9b28e738" providerId="LiveId" clId="{B2A23491-897E-4100-A280-E6ABBF3F6805}" dt="2026-04-21T22:22:36.327" v="1" actId="2696"/>
        <pc:sldMkLst>
          <pc:docMk/>
          <pc:sldMk cId="3281233551" sldId="293"/>
        </pc:sldMkLst>
      </pc:sldChg>
      <pc:sldChg chg="del">
        <pc:chgData name="Aparajita Sah" userId="58df650a9b28e738" providerId="LiveId" clId="{B2A23491-897E-4100-A280-E6ABBF3F6805}" dt="2026-04-21T22:22:41.633" v="3" actId="2696"/>
        <pc:sldMkLst>
          <pc:docMk/>
          <pc:sldMk cId="461902548" sldId="294"/>
        </pc:sldMkLst>
      </pc:sldChg>
      <pc:sldChg chg="del">
        <pc:chgData name="Aparajita Sah" userId="58df650a9b28e738" providerId="LiveId" clId="{B2A23491-897E-4100-A280-E6ABBF3F6805}" dt="2026-04-21T22:22:44.257" v="4" actId="2696"/>
        <pc:sldMkLst>
          <pc:docMk/>
          <pc:sldMk cId="45921465" sldId="295"/>
        </pc:sldMkLst>
      </pc:sldChg>
      <pc:sldChg chg="del">
        <pc:chgData name="Aparajita Sah" userId="58df650a9b28e738" providerId="LiveId" clId="{B2A23491-897E-4100-A280-E6ABBF3F6805}" dt="2026-04-21T22:22:48.013" v="5" actId="2696"/>
        <pc:sldMkLst>
          <pc:docMk/>
          <pc:sldMk cId="2155760201" sldId="29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950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F17BE6-7D9F-4722-9039-EC81DD988239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1048951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952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43177B-61CB-4A95-90E9-9FEB2D74A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944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6606E2-5E20-4BB4-A72A-8C5FEB176543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104894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104894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94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94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57DBC1-CB5D-4553-882D-F87B8C47A9F5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48601" name="TextShape 2"/>
          <p:cNvSpPr txBox="1"/>
          <p:nvPr/>
        </p:nvSpPr>
        <p:spPr>
          <a:xfrm>
            <a:off x="0" y="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1200" strike="noStrike">
                <a:solidFill>
                  <a:srgbClr val="000000"/>
                </a:solidFill>
                <a:latin typeface="+mn-lt"/>
                <a:ea typeface="+mn-ea"/>
              </a:rPr>
              <a:t>QoS aware Named Data Wireless Sensor Network</a:t>
            </a:r>
          </a:p>
        </p:txBody>
      </p:sp>
      <p:sp>
        <p:nvSpPr>
          <p:cNvPr id="1048602" name="Footer 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rPr lang="en-US" sz="1400">
                <a:latin typeface="Times New Roman"/>
              </a:rPr>
              <a:t>Department of Computer Science and Engineering</a:t>
            </a:r>
            <a:endParaRPr lang="en-US"/>
          </a:p>
        </p:txBody>
      </p:sp>
      <p:sp>
        <p:nvSpPr>
          <p:cNvPr id="1048603" name="Header Placeholder 2"/>
          <p:cNvSpPr>
            <a:spLocks noGrp="1"/>
          </p:cNvSpPr>
          <p:nvPr>
            <p:ph type="hdr" idx="11"/>
          </p:nvPr>
        </p:nvSpPr>
        <p:spPr/>
        <p:txBody>
          <a:bodyPr/>
          <a:lstStyle/>
          <a:p>
            <a:r>
              <a:rPr lang="en-US" sz="1400">
                <a:latin typeface="Times New Roman"/>
              </a:rPr>
              <a:t>Improving Security in Internet of Things</a:t>
            </a:r>
            <a:endParaRPr lang="en-US"/>
          </a:p>
        </p:txBody>
      </p:sp>
      <p:sp>
        <p:nvSpPr>
          <p:cNvPr id="104860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7DBC1-CB5D-4553-882D-F87B8C47A9F5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48627" name="TextShape 2"/>
          <p:cNvSpPr txBox="1"/>
          <p:nvPr/>
        </p:nvSpPr>
        <p:spPr>
          <a:xfrm>
            <a:off x="0" y="0"/>
            <a:ext cx="2971440" cy="45684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1200" strike="noStrike">
                <a:solidFill>
                  <a:srgbClr val="000000"/>
                </a:solidFill>
                <a:latin typeface="+mn-lt"/>
                <a:ea typeface="+mn-ea"/>
              </a:rPr>
              <a:t>QoS aware Named Data Wireless Sensor Network</a:t>
            </a:r>
          </a:p>
        </p:txBody>
      </p:sp>
      <p:sp>
        <p:nvSpPr>
          <p:cNvPr id="1048628" name="Footer 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rPr lang="en-US" sz="1400">
                <a:latin typeface="Times New Roman"/>
              </a:rPr>
              <a:t>Department of Computer Science and Engineering</a:t>
            </a:r>
            <a:endParaRPr lang="en-US"/>
          </a:p>
        </p:txBody>
      </p:sp>
      <p:sp>
        <p:nvSpPr>
          <p:cNvPr id="1048629" name="Header Placeholder 2"/>
          <p:cNvSpPr>
            <a:spLocks noGrp="1"/>
          </p:cNvSpPr>
          <p:nvPr>
            <p:ph type="hdr" idx="11"/>
          </p:nvPr>
        </p:nvSpPr>
        <p:spPr/>
        <p:txBody>
          <a:bodyPr/>
          <a:lstStyle/>
          <a:p>
            <a:r>
              <a:rPr lang="en-US" sz="1400">
                <a:latin typeface="Times New Roman"/>
              </a:rPr>
              <a:t>Improving Security in Internet of Things</a:t>
            </a:r>
            <a:endParaRPr lang="en-US"/>
          </a:p>
        </p:txBody>
      </p:sp>
      <p:sp>
        <p:nvSpPr>
          <p:cNvPr id="104863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7DBC1-CB5D-4553-882D-F87B8C47A9F5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2CC2-BEF7-4591-92E0-3B4893A82DD3}" type="datetime1">
              <a:rPr lang="en-IN" smtClean="0"/>
              <a:t>22-04-2026</a:t>
            </a:fld>
            <a:endParaRPr lang="en-I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9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90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D8028-667F-43BF-B754-900B5B298E81}" type="datetime1">
              <a:rPr lang="en-IN" smtClean="0"/>
              <a:t>22-04-2026</a:t>
            </a:fld>
            <a:endParaRPr lang="en-IN"/>
          </a:p>
        </p:txBody>
      </p:sp>
      <p:sp>
        <p:nvSpPr>
          <p:cNvPr id="104890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90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8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919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2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B4C57-A949-48B1-BACC-194A041CA9FC}" type="datetime1">
              <a:rPr lang="en-IN" smtClean="0"/>
              <a:t>22-04-2026</a:t>
            </a:fld>
            <a:endParaRPr lang="en-IN"/>
          </a:p>
        </p:txBody>
      </p:sp>
      <p:sp>
        <p:nvSpPr>
          <p:cNvPr id="104892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9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924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925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92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4185-89B0-46EA-A884-C1669748574C}" type="datetime1">
              <a:rPr lang="en-IN" smtClean="0"/>
              <a:t>22-04-2026</a:t>
            </a:fld>
            <a:endParaRPr lang="en-IN"/>
          </a:p>
        </p:txBody>
      </p:sp>
      <p:sp>
        <p:nvSpPr>
          <p:cNvPr id="104892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92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9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930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31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93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33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93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978A2-BD8C-47EF-BAF4-4AA31CB86D03}" type="datetime1">
              <a:rPr lang="en-IN" smtClean="0"/>
              <a:t>22-04-2026</a:t>
            </a:fld>
            <a:endParaRPr lang="en-IN"/>
          </a:p>
        </p:txBody>
      </p:sp>
      <p:sp>
        <p:nvSpPr>
          <p:cNvPr id="104893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93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89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A88B1-E572-4581-86C6-62EE64792FCC}" type="datetime1">
              <a:rPr lang="en-IN" smtClean="0"/>
              <a:t>22-04-2026</a:t>
            </a:fld>
            <a:endParaRPr lang="en-IN"/>
          </a:p>
        </p:txBody>
      </p:sp>
      <p:sp>
        <p:nvSpPr>
          <p:cNvPr id="104889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89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A5EA6-F2E1-471C-93E7-7A5475BBB4DF}" type="datetime1">
              <a:rPr lang="en-IN" smtClean="0"/>
              <a:t>22-04-2026</a:t>
            </a:fld>
            <a:endParaRPr lang="en-IN"/>
          </a:p>
        </p:txBody>
      </p:sp>
      <p:sp>
        <p:nvSpPr>
          <p:cNvPr id="104859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59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79944" y="6356349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7CA5034E-5F5C-466C-85ED-C86E66847AC5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7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938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93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4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61D78-D2F0-45D6-8844-E29008485D4D}" type="datetime1">
              <a:rPr lang="en-IN" smtClean="0"/>
              <a:t>22-04-2026</a:t>
            </a:fld>
            <a:endParaRPr lang="en-IN"/>
          </a:p>
        </p:txBody>
      </p:sp>
      <p:sp>
        <p:nvSpPr>
          <p:cNvPr id="104894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94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7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908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104890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1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F79EF-4D8B-4F16-A285-22446FBDE507}" type="datetime1">
              <a:rPr lang="en-IN" smtClean="0"/>
              <a:t>22-04-2026</a:t>
            </a:fld>
            <a:endParaRPr lang="en-IN"/>
          </a:p>
        </p:txBody>
      </p:sp>
      <p:sp>
        <p:nvSpPr>
          <p:cNvPr id="104891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91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914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9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14E8E-B473-4ECF-9AAD-B034A9D9E874}" type="datetime1">
              <a:rPr lang="en-IN" smtClean="0"/>
              <a:t>22-04-2026</a:t>
            </a:fld>
            <a:endParaRPr lang="en-IN"/>
          </a:p>
        </p:txBody>
      </p:sp>
      <p:sp>
        <p:nvSpPr>
          <p:cNvPr id="10489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9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7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89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97E2-3C51-4F39-A657-15E965D09DD0}" type="datetime1">
              <a:rPr lang="en-IN" smtClean="0"/>
              <a:t>22-04-2026</a:t>
            </a:fld>
            <a:endParaRPr lang="en-IN"/>
          </a:p>
        </p:txBody>
      </p:sp>
      <p:sp>
        <p:nvSpPr>
          <p:cNvPr id="10489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9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51C1A-6E50-4EFD-A6A3-E707732D0641}" type="datetime1">
              <a:rPr lang="en-IN" smtClean="0"/>
              <a:t>22-04-2026</a:t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A5034E-5F5C-466C-85ED-C86E66847AC5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CustomShape 1"/>
          <p:cNvSpPr/>
          <p:nvPr/>
        </p:nvSpPr>
        <p:spPr>
          <a:xfrm>
            <a:off x="0" y="178905"/>
            <a:ext cx="12192000" cy="1059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000000"/>
          </a:fontRef>
        </p:style>
        <p:txBody>
          <a:bodyPr lIns="90000" tIns="45000" rIns="90000" bIns="45000"/>
          <a:lstStyle/>
          <a:p>
            <a:pPr algn="ctr">
              <a:lnSpc>
                <a:spcPct val="150000"/>
              </a:lnSpc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Report on</a:t>
            </a:r>
            <a:r>
              <a:rPr lang="en-IN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Ambiguity in NLP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 Transformer for Hindi Ambiguity Detection</a:t>
            </a:r>
          </a:p>
        </p:txBody>
      </p:sp>
      <p:sp>
        <p:nvSpPr>
          <p:cNvPr id="1048587" name="CustomShape 2"/>
          <p:cNvSpPr/>
          <p:nvPr/>
        </p:nvSpPr>
        <p:spPr>
          <a:xfrm>
            <a:off x="4826442" y="3037871"/>
            <a:ext cx="8118281" cy="125583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000000"/>
          </a:fontRef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 lang="en-IN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endParaRPr lang="en-IN" sz="1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8" name="CustomShape 3"/>
          <p:cNvSpPr/>
          <p:nvPr/>
        </p:nvSpPr>
        <p:spPr>
          <a:xfrm>
            <a:off x="3275847" y="4415458"/>
            <a:ext cx="5306007" cy="211504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000000"/>
          </a:fontRef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b="1" i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 </a:t>
            </a:r>
            <a:r>
              <a:rPr lang="en-IN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>
              <a:lnSpc>
                <a:spcPct val="100000"/>
              </a:lnSpc>
            </a:pPr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Sital Sharma</a:t>
            </a:r>
          </a:p>
          <a:p>
            <a:pPr algn="ctr">
              <a:lnSpc>
                <a:spcPct val="100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AI&amp;DS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SMIT, SMU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2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914163" y="1238015"/>
            <a:ext cx="5294064" cy="1453662"/>
          </a:xfrm>
          <a:prstGeom prst="rect">
            <a:avLst/>
          </a:prstGeom>
        </p:spPr>
      </p:pic>
      <p:sp>
        <p:nvSpPr>
          <p:cNvPr id="1048589" name="TextBox 2"/>
          <p:cNvSpPr txBox="1"/>
          <p:nvPr/>
        </p:nvSpPr>
        <p:spPr>
          <a:xfrm>
            <a:off x="2592498" y="2755334"/>
            <a:ext cx="65041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:-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Aparajita Sah (202300556)</a:t>
            </a:r>
          </a:p>
          <a:p>
            <a:pPr algn="ctr">
              <a:lnSpc>
                <a:spcPct val="100000"/>
              </a:lnSpc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Tech CSE (Data Science)</a:t>
            </a:r>
          </a:p>
          <a:p>
            <a:pPr algn="ctr">
              <a:lnSpc>
                <a:spcPct val="100000"/>
              </a:lnSpc>
            </a:pP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Analytics and NLP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extShape 1"/>
          <p:cNvSpPr txBox="1"/>
          <p:nvPr/>
        </p:nvSpPr>
        <p:spPr>
          <a:xfrm>
            <a:off x="8077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227F0702-19A8-4306-935E-56F484D1767E}" type="slidenum">
              <a:rPr lang="en-IN" sz="1200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2</a:t>
            </a:fld>
            <a:endParaRPr lang="en-IN" sz="1200">
              <a:solidFill>
                <a:srgbClr val="8B8B8B"/>
              </a:solidFill>
              <a:latin typeface="Calibri"/>
            </a:endParaRPr>
          </a:p>
        </p:txBody>
      </p:sp>
      <p:sp>
        <p:nvSpPr>
          <p:cNvPr id="1048594" name="Line 2"/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595" name="Line 3"/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596" name="TextShape 4"/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sz="1200" b="1">
                <a:solidFill>
                  <a:srgbClr val="8B8B8B"/>
                </a:solidFill>
                <a:latin typeface="Calibri"/>
              </a:rPr>
              <a:t>Department of AI&amp;DS</a:t>
            </a:r>
          </a:p>
          <a:p>
            <a:pPr>
              <a:lnSpc>
                <a:spcPct val="100000"/>
              </a:lnSpc>
            </a:pPr>
            <a:r>
              <a:rPr lang="en-IN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1048597" name="CustomShape 6"/>
          <p:cNvSpPr/>
          <p:nvPr/>
        </p:nvSpPr>
        <p:spPr>
          <a:xfrm>
            <a:off x="1033671" y="136800"/>
            <a:ext cx="10193238" cy="56503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rgbClr val="000000"/>
          </a:fontRef>
        </p:style>
        <p:txBody>
          <a:bodyPr lIns="90000" tIns="45000" rIns="90000" bIns="45000"/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  <a:p>
            <a:pPr algn="ctr">
              <a:lnSpc>
                <a:spcPct val="150000"/>
              </a:lnSpc>
            </a:pPr>
            <a:r>
              <a:rPr lang="en-IN" sz="2400" b="1" dirty="0">
                <a:solidFill>
                  <a:srgbClr val="000000"/>
                </a:solidFill>
                <a:latin typeface="Calibri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8" name="CustomShape 5"/>
          <p:cNvSpPr/>
          <p:nvPr/>
        </p:nvSpPr>
        <p:spPr>
          <a:xfrm>
            <a:off x="1524000" y="10260"/>
            <a:ext cx="9143640" cy="2728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6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AMBIGUITY IN NLP - HINDI LANGUAGE</a:t>
            </a:r>
            <a:endParaRPr 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dirty="0"/>
          </a:p>
        </p:txBody>
      </p:sp>
      <p:pic>
        <p:nvPicPr>
          <p:cNvPr id="2097153" name="Picture 1" descr="A black text on a white background  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250" y="6327821"/>
            <a:ext cx="1997990" cy="518271"/>
          </a:xfrm>
          <a:prstGeom prst="rect">
            <a:avLst/>
          </a:prstGeom>
        </p:spPr>
      </p:pic>
      <p:sp>
        <p:nvSpPr>
          <p:cNvPr id="1048599" name="TextBox 2"/>
          <p:cNvSpPr txBox="1"/>
          <p:nvPr/>
        </p:nvSpPr>
        <p:spPr>
          <a:xfrm>
            <a:off x="11396444" y="640229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ii</a:t>
            </a:r>
          </a:p>
        </p:txBody>
      </p:sp>
      <p:graphicFrame>
        <p:nvGraphicFramePr>
          <p:cNvPr id="419430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603395"/>
              </p:ext>
            </p:extLst>
          </p:nvPr>
        </p:nvGraphicFramePr>
        <p:xfrm>
          <a:off x="1907931" y="859713"/>
          <a:ext cx="8659859" cy="361396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239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6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36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6280">
                <a:tc>
                  <a:txBody>
                    <a:bodyPr/>
                    <a:lstStyle/>
                    <a:p>
                      <a:r>
                        <a:rPr lang="en-IN" sz="1800" dirty="0"/>
                        <a:t>SL.no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TITLE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Slide no.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28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Overview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28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Ambiguity in Hindi NLP - Types &amp; Examples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2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28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Types of Ambiguity 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3-4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28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 Transformer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628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 Training Configuration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6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628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Interface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7-8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extShape 1"/>
          <p:cNvSpPr txBox="1"/>
          <p:nvPr/>
        </p:nvSpPr>
        <p:spPr>
          <a:xfrm>
            <a:off x="8065505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endParaRPr lang="en-IN" sz="1200">
              <a:solidFill>
                <a:srgbClr val="8B8B8B"/>
              </a:solidFill>
              <a:latin typeface="Calibri"/>
            </a:endParaRPr>
          </a:p>
        </p:txBody>
      </p:sp>
      <p:sp>
        <p:nvSpPr>
          <p:cNvPr id="1048618" name="Line 2"/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19" name="Line 3"/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20" name="TextShape 4"/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1048621" name="SlideTitle"/>
          <p:cNvSpPr/>
          <p:nvPr/>
        </p:nvSpPr>
        <p:spPr>
          <a:xfrm>
            <a:off x="721387" y="342768"/>
            <a:ext cx="10748865" cy="100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1048622" name="HeaderBar"/>
          <p:cNvSpPr/>
          <p:nvPr/>
        </p:nvSpPr>
        <p:spPr>
          <a:xfrm>
            <a:off x="1524000" y="24480"/>
            <a:ext cx="9143640" cy="2728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6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AMBIGUITY IN NLP - HINDI LANGUAGE</a:t>
            </a:r>
          </a:p>
        </p:txBody>
      </p:sp>
      <p:sp>
        <p:nvSpPr>
          <p:cNvPr id="1048623" name="ContentBox"/>
          <p:cNvSpPr txBox="1"/>
          <p:nvPr/>
        </p:nvSpPr>
        <p:spPr>
          <a:xfrm>
            <a:off x="1524000" y="1450000"/>
            <a:ext cx="9143640" cy="4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Hindi Ambiguity Resolution System?</a:t>
            </a:r>
          </a:p>
          <a:p>
            <a:pPr algn="l">
              <a:lnSpc>
                <a:spcPct val="120000"/>
              </a:lnSpc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end-to-end NLP system that detects and resolves ambiguity in Hindi language.</a:t>
            </a:r>
          </a:p>
          <a:p>
            <a:pPr algn="l">
              <a:lnSpc>
                <a:spcPct val="120000"/>
              </a:lnSpc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any ambiguous Hindi word, sentence, or idiom, the system generates two distinct interpretations (literal vs. figurative, or two equally valid meanings).</a:t>
            </a:r>
          </a:p>
          <a:p>
            <a:pPr algn="l">
              <a:lnSpc>
                <a:spcPct val="120000"/>
              </a:lnSpc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in both Hindi (Devanagari) script and Hinglish (Romanized Hindi).</a:t>
            </a:r>
          </a:p>
          <a:p>
            <a:pPr algn="l">
              <a:lnSpc>
                <a:spcPct val="120000"/>
              </a:lnSpc>
            </a:pPr>
            <a:endParaRPr lang="en-IN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Dual-Track Architecture</a:t>
            </a:r>
          </a:p>
          <a:p>
            <a:pPr algn="l">
              <a:lnSpc>
                <a:spcPct val="120000"/>
              </a:lnSpc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A - Rule-Based Engine: JavaScript + Fuzzy Matching, 60 curated entries, instant GPU-free inference.</a:t>
            </a:r>
          </a:p>
          <a:p>
            <a:pPr algn="l">
              <a:lnSpc>
                <a:spcPct val="120000"/>
              </a:lnSpc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B - 2B Parameter Transformer: PyTorch + LLaMA/Mistral architecture, deep generative interpretation.</a:t>
            </a:r>
          </a:p>
          <a:p>
            <a:pPr algn="l">
              <a:lnSpc>
                <a:spcPct val="120000"/>
              </a:lnSpc>
            </a:pPr>
            <a:endParaRPr lang="en-IN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Coverage</a:t>
            </a:r>
          </a:p>
          <a:p>
            <a:pPr algn="l">
              <a:lnSpc>
                <a:spcPct val="120000"/>
              </a:lnSpc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 ambiguous Hindi entries across 6 ambiguity categories.</a:t>
            </a:r>
          </a:p>
          <a:p>
            <a:pPr algn="l">
              <a:lnSpc>
                <a:spcPct val="120000"/>
              </a:lnSpc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Hinglish Normalizer: 100+ Roman to Devanagari mappings for script-agnostic input.</a:t>
            </a:r>
          </a:p>
          <a:p>
            <a:pPr algn="l">
              <a:lnSpc>
                <a:spcPct val="120000"/>
              </a:lnSpc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Interface: HTML5 + CSS3 + Vanilla JS, self-contained single-file UI.</a:t>
            </a:r>
          </a:p>
        </p:txBody>
      </p:sp>
      <p:pic>
        <p:nvPicPr>
          <p:cNvPr id="2097155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250" y="6327821"/>
            <a:ext cx="1997990" cy="5182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extShape 1"/>
          <p:cNvSpPr txBox="1"/>
          <p:nvPr/>
        </p:nvSpPr>
        <p:spPr>
          <a:xfrm>
            <a:off x="8065505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endParaRPr lang="en-IN" sz="1200">
              <a:solidFill>
                <a:srgbClr val="8B8B8B"/>
              </a:solidFill>
              <a:latin typeface="Calibri"/>
            </a:endParaRPr>
          </a:p>
        </p:txBody>
      </p:sp>
      <p:sp>
        <p:nvSpPr>
          <p:cNvPr id="1048618" name="Line 2"/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19" name="Line 3"/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20" name="TextShape 4"/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1048621" name="SlideTitle"/>
          <p:cNvSpPr/>
          <p:nvPr/>
        </p:nvSpPr>
        <p:spPr>
          <a:xfrm>
            <a:off x="721387" y="342768"/>
            <a:ext cx="10748865" cy="100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Ambiguity in Hindi NLP</a:t>
            </a:r>
          </a:p>
        </p:txBody>
      </p:sp>
      <p:sp>
        <p:nvSpPr>
          <p:cNvPr id="1048622" name="HeaderBar"/>
          <p:cNvSpPr/>
          <p:nvPr/>
        </p:nvSpPr>
        <p:spPr>
          <a:xfrm>
            <a:off x="1524000" y="24480"/>
            <a:ext cx="9143640" cy="2728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6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AMBIGUITY IN NLP - HINDI LANGUAGE</a:t>
            </a:r>
          </a:p>
        </p:txBody>
      </p:sp>
      <p:sp>
        <p:nvSpPr>
          <p:cNvPr id="1048623" name="ContentBox"/>
          <p:cNvSpPr txBox="1"/>
          <p:nvPr/>
        </p:nvSpPr>
        <p:spPr>
          <a:xfrm>
            <a:off x="1524000" y="1450000"/>
            <a:ext cx="9143640" cy="4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Hindi is Uniquely Ambiguous</a:t>
            </a:r>
          </a:p>
          <a:p>
            <a:pPr algn="l">
              <a:lnSpc>
                <a:spcPct val="120000"/>
              </a:lnSpc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Hindi allows the same surface form to carry radically different meanings with no additional syntactic markers.</a:t>
            </a:r>
          </a:p>
          <a:p>
            <a:pPr algn="l">
              <a:lnSpc>
                <a:spcPct val="120000"/>
              </a:lnSpc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NLP tools either ignore this ambiguity or collapse it into a single dominant meaning.</a:t>
            </a:r>
          </a:p>
          <a:p>
            <a:pPr algn="l">
              <a:lnSpc>
                <a:spcPct val="120000"/>
              </a:lnSpc>
            </a:pPr>
            <a:endParaRPr lang="en-IN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Examples of Hindi Ambiguity</a:t>
            </a:r>
          </a:p>
          <a:p>
            <a:pPr algn="l">
              <a:lnSpc>
                <a:spcPct val="120000"/>
              </a:lnSpc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कल (kal) - Yesterday / Tomorrow   |   सोना (sona) - To sleep / Gold</a:t>
            </a:r>
          </a:p>
          <a:p>
            <a:pPr algn="l">
              <a:lnSpc>
                <a:spcPct val="120000"/>
              </a:lnSpc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आम (aam) - Mango / Common/Ordinary   |   दिल टूट गया - Literal heartbreak / Emotional heartbreak</a:t>
            </a:r>
          </a:p>
          <a:p>
            <a:pPr algn="l">
              <a:lnSpc>
                <a:spcPct val="120000"/>
              </a:lnSpc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बैंक गया (bank gaya) - Went to bank institution / Sat by riverbank</a:t>
            </a:r>
          </a:p>
          <a:p>
            <a:pPr algn="l">
              <a:lnSpc>
                <a:spcPct val="120000"/>
              </a:lnSpc>
            </a:pPr>
            <a:endParaRPr lang="en-IN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Six Categories Covered</a:t>
            </a:r>
          </a:p>
          <a:p>
            <a:pPr algn="l">
              <a:lnSpc>
                <a:spcPct val="120000"/>
              </a:lnSpc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Lexical  2. Syntactic  3. Semantic  4. Pragmatic  5. Idiomatic  6. Referential</a:t>
            </a:r>
          </a:p>
        </p:txBody>
      </p:sp>
      <p:pic>
        <p:nvPicPr>
          <p:cNvPr id="2097155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250" y="6327821"/>
            <a:ext cx="1997990" cy="5182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F117D-CB40-0170-79F9-29DCFBDE6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extShape 1">
            <a:extLst>
              <a:ext uri="{FF2B5EF4-FFF2-40B4-BE49-F238E27FC236}">
                <a16:creationId xmlns:a16="http://schemas.microsoft.com/office/drawing/2014/main" id="{FD59AAB0-A105-AEBE-9B24-2DDC1450832E}"/>
              </a:ext>
            </a:extLst>
          </p:cNvPr>
          <p:cNvSpPr txBox="1"/>
          <p:nvPr/>
        </p:nvSpPr>
        <p:spPr>
          <a:xfrm>
            <a:off x="8065505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endParaRPr lang="en-IN" sz="1200">
              <a:solidFill>
                <a:srgbClr val="8B8B8B"/>
              </a:solidFill>
              <a:latin typeface="Calibri"/>
            </a:endParaRPr>
          </a:p>
        </p:txBody>
      </p:sp>
      <p:sp>
        <p:nvSpPr>
          <p:cNvPr id="1048618" name="Line 2">
            <a:extLst>
              <a:ext uri="{FF2B5EF4-FFF2-40B4-BE49-F238E27FC236}">
                <a16:creationId xmlns:a16="http://schemas.microsoft.com/office/drawing/2014/main" id="{6C60F440-D6C8-9A6E-D2AB-7144EB5A39AE}"/>
              </a:ext>
            </a:extLst>
          </p:cNvPr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19" name="Line 3">
            <a:extLst>
              <a:ext uri="{FF2B5EF4-FFF2-40B4-BE49-F238E27FC236}">
                <a16:creationId xmlns:a16="http://schemas.microsoft.com/office/drawing/2014/main" id="{0BC69885-5749-1F2E-1E59-7C1525E1B7DA}"/>
              </a:ext>
            </a:extLst>
          </p:cNvPr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20" name="TextShape 4">
            <a:extLst>
              <a:ext uri="{FF2B5EF4-FFF2-40B4-BE49-F238E27FC236}">
                <a16:creationId xmlns:a16="http://schemas.microsoft.com/office/drawing/2014/main" id="{F1544508-AABF-F6BC-57B9-D93B6894D873}"/>
              </a:ext>
            </a:extLst>
          </p:cNvPr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1048621" name="SlideTitle">
            <a:extLst>
              <a:ext uri="{FF2B5EF4-FFF2-40B4-BE49-F238E27FC236}">
                <a16:creationId xmlns:a16="http://schemas.microsoft.com/office/drawing/2014/main" id="{4674D775-AABC-3F1D-A907-1CFCB9CB371E}"/>
              </a:ext>
            </a:extLst>
          </p:cNvPr>
          <p:cNvSpPr/>
          <p:nvPr/>
        </p:nvSpPr>
        <p:spPr>
          <a:xfrm>
            <a:off x="721387" y="342768"/>
            <a:ext cx="10748865" cy="100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Ambiguity - Details</a:t>
            </a:r>
          </a:p>
        </p:txBody>
      </p:sp>
      <p:sp>
        <p:nvSpPr>
          <p:cNvPr id="1048622" name="HeaderBar">
            <a:extLst>
              <a:ext uri="{FF2B5EF4-FFF2-40B4-BE49-F238E27FC236}">
                <a16:creationId xmlns:a16="http://schemas.microsoft.com/office/drawing/2014/main" id="{70B320AD-F587-5027-232E-01C127350C2A}"/>
              </a:ext>
            </a:extLst>
          </p:cNvPr>
          <p:cNvSpPr/>
          <p:nvPr/>
        </p:nvSpPr>
        <p:spPr>
          <a:xfrm>
            <a:off x="1524000" y="24480"/>
            <a:ext cx="9143640" cy="2728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6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AMBIGUITY IN NLP - HINDI LANGUAGE</a:t>
            </a:r>
          </a:p>
        </p:txBody>
      </p:sp>
      <p:sp>
        <p:nvSpPr>
          <p:cNvPr id="1048623" name="ContentBox">
            <a:extLst>
              <a:ext uri="{FF2B5EF4-FFF2-40B4-BE49-F238E27FC236}">
                <a16:creationId xmlns:a16="http://schemas.microsoft.com/office/drawing/2014/main" id="{A0B5533E-A44F-CC7E-5484-0C72366420EB}"/>
              </a:ext>
            </a:extLst>
          </p:cNvPr>
          <p:cNvSpPr txBox="1"/>
          <p:nvPr/>
        </p:nvSpPr>
        <p:spPr>
          <a:xfrm>
            <a:off x="1524000" y="1450000"/>
            <a:ext cx="9143640" cy="4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 algn="l">
              <a:lnSpc>
                <a:spcPct val="120000"/>
              </a:lnSpc>
              <a:buAutoNum type="alphaLcParenR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Lexical Ambiguity </a:t>
            </a:r>
          </a:p>
          <a:p>
            <a:pPr algn="l">
              <a:lnSpc>
                <a:spcPct val="120000"/>
              </a:lnSpc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word with multiple unrelated meanings (polysemy / homonymy).</a:t>
            </a:r>
          </a:p>
          <a:p>
            <a:pPr algn="l">
              <a:lnSpc>
                <a:spcPct val="120000"/>
              </a:lnSpc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'वो आम खाता है' - आम = mango OR common; 'काम' = work OR desire (Sanskritic).</a:t>
            </a:r>
          </a:p>
          <a:p>
            <a:pPr algn="l">
              <a:lnSpc>
                <a:spcPct val="120000"/>
              </a:lnSpc>
            </a:pPr>
            <a:endParaRPr lang="en-IN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Syntactic / Structural Ambiguity </a:t>
            </a:r>
          </a:p>
          <a:p>
            <a:pPr algn="l">
              <a:lnSpc>
                <a:spcPct val="120000"/>
              </a:lnSpc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sentence parsed into multiple valid grammatical structures.</a:t>
            </a:r>
          </a:p>
          <a:p>
            <a:pPr algn="l">
              <a:lnSpc>
                <a:spcPct val="120000"/>
              </a:lnSpc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'राम और श्याम की बहन आई' - [Ram + Shyam's sister came] OR [Ram and Shyam's shared sister came].</a:t>
            </a:r>
          </a:p>
          <a:p>
            <a:pPr algn="l">
              <a:lnSpc>
                <a:spcPct val="120000"/>
              </a:lnSpc>
            </a:pPr>
            <a:endParaRPr lang="en-IN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Semantic Ambiguity </a:t>
            </a:r>
          </a:p>
          <a:p>
            <a:pPr algn="l">
              <a:lnSpc>
                <a:spcPct val="120000"/>
              </a:lnSpc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Compositional meaning differs from intended meaning. E.g. 'उसकी आँखें बोलती हैं' - eyes literally speak vs. eyes are expressive.</a:t>
            </a:r>
          </a:p>
        </p:txBody>
      </p:sp>
      <p:pic>
        <p:nvPicPr>
          <p:cNvPr id="2097155" name="Picture 1">
            <a:extLst>
              <a:ext uri="{FF2B5EF4-FFF2-40B4-BE49-F238E27FC236}">
                <a16:creationId xmlns:a16="http://schemas.microsoft.com/office/drawing/2014/main" id="{A9C840C0-9C9A-09C3-0278-B7FE52558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250" y="6327821"/>
            <a:ext cx="1997990" cy="51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841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extShape 1"/>
          <p:cNvSpPr txBox="1"/>
          <p:nvPr/>
        </p:nvSpPr>
        <p:spPr>
          <a:xfrm>
            <a:off x="8065505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endParaRPr lang="en-IN" sz="1200">
              <a:solidFill>
                <a:srgbClr val="8B8B8B"/>
              </a:solidFill>
              <a:latin typeface="Calibri"/>
            </a:endParaRPr>
          </a:p>
        </p:txBody>
      </p:sp>
      <p:sp>
        <p:nvSpPr>
          <p:cNvPr id="1048618" name="Line 2"/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19" name="Line 3"/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20" name="TextShape 4"/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1048621" name="SlideTitle"/>
          <p:cNvSpPr/>
          <p:nvPr/>
        </p:nvSpPr>
        <p:spPr>
          <a:xfrm>
            <a:off x="721387" y="342768"/>
            <a:ext cx="10748865" cy="100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Ambiguity - Details</a:t>
            </a:r>
          </a:p>
        </p:txBody>
      </p:sp>
      <p:sp>
        <p:nvSpPr>
          <p:cNvPr id="1048622" name="HeaderBar"/>
          <p:cNvSpPr/>
          <p:nvPr/>
        </p:nvSpPr>
        <p:spPr>
          <a:xfrm>
            <a:off x="1524000" y="24480"/>
            <a:ext cx="9143640" cy="2728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6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AMBIGUITY IN NLP - HINDI LANGUAGE</a:t>
            </a:r>
          </a:p>
        </p:txBody>
      </p:sp>
      <p:sp>
        <p:nvSpPr>
          <p:cNvPr id="1048623" name="ContentBox"/>
          <p:cNvSpPr txBox="1"/>
          <p:nvPr/>
        </p:nvSpPr>
        <p:spPr>
          <a:xfrm>
            <a:off x="1524000" y="1450000"/>
            <a:ext cx="9143640" cy="4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IN" sz="1500" b="1" dirty="0">
                <a:latin typeface="Calibri"/>
                <a:cs typeface="Calibri"/>
              </a:rPr>
              <a:t>d) Pragmatic Ambiguity </a:t>
            </a:r>
          </a:p>
          <a:p>
            <a:pPr algn="l">
              <a:lnSpc>
                <a:spcPct val="120000"/>
              </a:lnSpc>
            </a:pPr>
            <a:r>
              <a:rPr lang="en-IN" sz="1500" b="0" dirty="0">
                <a:latin typeface="Calibri"/>
                <a:cs typeface="Calibri"/>
              </a:rPr>
              <a:t>Speaker intent differs from literal meaning. Relies on Grice's Maxims of quality, quantity, relevance, and manner.</a:t>
            </a:r>
          </a:p>
          <a:p>
            <a:pPr algn="l">
              <a:lnSpc>
                <a:spcPct val="120000"/>
              </a:lnSpc>
            </a:pPr>
            <a:endParaRPr lang="en-IN" sz="1500" b="0" dirty="0">
              <a:latin typeface="Calibri"/>
              <a:cs typeface="Calibri"/>
            </a:endParaRPr>
          </a:p>
          <a:p>
            <a:pPr algn="l">
              <a:lnSpc>
                <a:spcPct val="120000"/>
              </a:lnSpc>
            </a:pPr>
            <a:r>
              <a:rPr lang="en-IN" sz="1500" b="1" dirty="0">
                <a:latin typeface="Calibri"/>
                <a:cs typeface="Calibri"/>
              </a:rPr>
              <a:t>e) Referential / Anaphoric Ambiguity </a:t>
            </a:r>
          </a:p>
          <a:p>
            <a:pPr algn="l">
              <a:lnSpc>
                <a:spcPct val="120000"/>
              </a:lnSpc>
            </a:pPr>
            <a:r>
              <a:rPr lang="en-IN" sz="1500" b="0" dirty="0">
                <a:latin typeface="Calibri"/>
                <a:cs typeface="Calibri"/>
              </a:rPr>
              <a:t>Hindi's pro-drop and 'वो' (he/she) increase referential ambiguity. E.g. 'राम ने श्याम को मारा और वो चला गया' - who left?</a:t>
            </a:r>
          </a:p>
          <a:p>
            <a:pPr algn="l">
              <a:lnSpc>
                <a:spcPct val="120000"/>
              </a:lnSpc>
            </a:pPr>
            <a:endParaRPr lang="en-IN" sz="1500" dirty="0">
              <a:latin typeface="Calibri"/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en-IN" sz="1500" b="1" dirty="0">
                <a:cs typeface="Calibri"/>
              </a:rPr>
              <a:t>f) Idiomatic Ambiguity </a:t>
            </a:r>
          </a:p>
          <a:p>
            <a:pPr>
              <a:lnSpc>
                <a:spcPct val="120000"/>
              </a:lnSpc>
            </a:pPr>
            <a:r>
              <a:rPr lang="en-US" sz="1500" dirty="0"/>
              <a:t>When a phrase can be interpreted both literally and figuratively (e.g., “haath khade kar diye” = raised hands / gave up).</a:t>
            </a:r>
            <a:endParaRPr lang="en-IN" sz="1500" b="0" dirty="0">
              <a:latin typeface="Calibri"/>
              <a:cs typeface="Calibri"/>
            </a:endParaRPr>
          </a:p>
        </p:txBody>
      </p:sp>
      <p:pic>
        <p:nvPicPr>
          <p:cNvPr id="2097155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250" y="6327821"/>
            <a:ext cx="1997990" cy="5182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extShape 1"/>
          <p:cNvSpPr txBox="1"/>
          <p:nvPr/>
        </p:nvSpPr>
        <p:spPr>
          <a:xfrm>
            <a:off x="8065505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endParaRPr lang="en-IN" sz="1200">
              <a:solidFill>
                <a:srgbClr val="8B8B8B"/>
              </a:solidFill>
              <a:latin typeface="Calibri"/>
            </a:endParaRPr>
          </a:p>
        </p:txBody>
      </p:sp>
      <p:sp>
        <p:nvSpPr>
          <p:cNvPr id="1048618" name="Line 2"/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19" name="Line 3"/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20" name="TextShape 4"/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1048621" name="SlideTitle"/>
          <p:cNvSpPr/>
          <p:nvPr/>
        </p:nvSpPr>
        <p:spPr>
          <a:xfrm>
            <a:off x="721387" y="342768"/>
            <a:ext cx="10748865" cy="100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Transformer</a:t>
            </a:r>
          </a:p>
        </p:txBody>
      </p:sp>
      <p:sp>
        <p:nvSpPr>
          <p:cNvPr id="1048622" name="HeaderBar"/>
          <p:cNvSpPr/>
          <p:nvPr/>
        </p:nvSpPr>
        <p:spPr>
          <a:xfrm>
            <a:off x="1524000" y="24480"/>
            <a:ext cx="9143640" cy="2728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6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AMBIGUITY IN NLP - HINDI LANGUAGE</a:t>
            </a:r>
          </a:p>
        </p:txBody>
      </p:sp>
      <p:sp>
        <p:nvSpPr>
          <p:cNvPr id="1048623" name="ContentBox"/>
          <p:cNvSpPr txBox="1"/>
          <p:nvPr/>
        </p:nvSpPr>
        <p:spPr>
          <a:xfrm>
            <a:off x="1524000" y="1450000"/>
            <a:ext cx="9143640" cy="4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Overview:</a:t>
            </a:r>
          </a:p>
          <a:p>
            <a:pPr>
              <a:lnSpc>
                <a:spcPct val="120000"/>
              </a:lnSpc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Encoder-only Transformer based on BERT architecture, implemented in PyTorch.</a:t>
            </a:r>
          </a:p>
          <a:p>
            <a:pPr>
              <a:lnSpc>
                <a:spcPct val="120000"/>
              </a:lnSpc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~110M (BERT-base) to ~340M (BERT-large) parameters. Produces contextual embeddings and can classify or rank multiple interpretations.</a:t>
            </a:r>
          </a:p>
          <a:p>
            <a:pPr>
              <a:lnSpc>
                <a:spcPct val="120000"/>
              </a:lnSpc>
            </a:pP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Components: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Encoding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Learned positional embeddings – captures token order within fixed sequence length.</a:t>
            </a:r>
          </a:p>
          <a:p>
            <a:pPr>
              <a:lnSpc>
                <a:spcPct val="120000"/>
              </a:lnSpc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Multi-Head Self-Attention – fully bidirectional context understanding.</a:t>
            </a:r>
          </a:p>
          <a:p>
            <a:pPr>
              <a:lnSpc>
                <a:spcPct val="120000"/>
              </a:lnSpc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Feed-Forward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GELU activation layers – smoother and more effective than ReLU.</a:t>
            </a:r>
          </a:p>
          <a:p>
            <a:pPr>
              <a:lnSpc>
                <a:spcPct val="120000"/>
              </a:lnSpc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Layer Norm with post-normalization – stabilizes training.</a:t>
            </a:r>
          </a:p>
          <a:p>
            <a:pPr>
              <a:lnSpc>
                <a:spcPct val="120000"/>
              </a:lnSpc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Word Piece tokenizer with special tokens: [CLS], [SEP], [MASK].</a:t>
            </a:r>
          </a:p>
          <a:p>
            <a:pPr>
              <a:lnSpc>
                <a:spcPct val="120000"/>
              </a:lnSpc>
            </a:pP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Output Format:</a:t>
            </a:r>
          </a:p>
          <a:p>
            <a:pPr>
              <a:lnSpc>
                <a:spcPct val="120000"/>
              </a:lnSpc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'</a:t>
            </a:r>
            <a:r>
              <a:rPr lang="hi-IN" sz="1500" dirty="0">
                <a:latin typeface="Times New Roman" panose="02020603050405020304" pitchFamily="18" charset="0"/>
                <a:cs typeface="Calibri"/>
              </a:rPr>
              <a:t>सोना' → [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CLS] sentence [SEP] → Output via classification head or embeddings for multiple meanings/interpretations</a:t>
            </a:r>
          </a:p>
        </p:txBody>
      </p:sp>
      <p:pic>
        <p:nvPicPr>
          <p:cNvPr id="2097155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250" y="6327821"/>
            <a:ext cx="1997990" cy="5182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extShape 1"/>
          <p:cNvSpPr txBox="1"/>
          <p:nvPr/>
        </p:nvSpPr>
        <p:spPr>
          <a:xfrm>
            <a:off x="8065505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endParaRPr lang="en-IN" sz="1200">
              <a:solidFill>
                <a:srgbClr val="8B8B8B"/>
              </a:solidFill>
              <a:latin typeface="Calibri"/>
            </a:endParaRPr>
          </a:p>
        </p:txBody>
      </p:sp>
      <p:sp>
        <p:nvSpPr>
          <p:cNvPr id="1048618" name="Line 2"/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19" name="Line 3"/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20" name="TextShape 4"/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1048621" name="SlideTitle"/>
          <p:cNvSpPr/>
          <p:nvPr/>
        </p:nvSpPr>
        <p:spPr>
          <a:xfrm>
            <a:off x="721387" y="342768"/>
            <a:ext cx="10748865" cy="100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Training Configuration</a:t>
            </a:r>
          </a:p>
        </p:txBody>
      </p:sp>
      <p:sp>
        <p:nvSpPr>
          <p:cNvPr id="1048622" name="HeaderBar"/>
          <p:cNvSpPr/>
          <p:nvPr/>
        </p:nvSpPr>
        <p:spPr>
          <a:xfrm>
            <a:off x="1524000" y="24480"/>
            <a:ext cx="9143640" cy="2728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6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AMBIGUITY IN NLP - HINDI LANGUAGE</a:t>
            </a:r>
          </a:p>
        </p:txBody>
      </p:sp>
      <p:sp>
        <p:nvSpPr>
          <p:cNvPr id="1048623" name="ContentBox"/>
          <p:cNvSpPr txBox="1"/>
          <p:nvPr/>
        </p:nvSpPr>
        <p:spPr>
          <a:xfrm>
            <a:off x="1524000" y="1450000"/>
            <a:ext cx="9143640" cy="4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IN" sz="1500" b="1" dirty="0">
                <a:latin typeface="Calibri"/>
                <a:cs typeface="Calibri"/>
              </a:rPr>
              <a:t>Training Hyperparameters:</a:t>
            </a:r>
          </a:p>
          <a:p>
            <a:pPr algn="l">
              <a:lnSpc>
                <a:spcPct val="120000"/>
              </a:lnSpc>
            </a:pPr>
            <a:r>
              <a:rPr lang="en-IN" sz="1500" b="0" dirty="0">
                <a:latin typeface="Calibri"/>
                <a:cs typeface="Calibri"/>
              </a:rPr>
              <a:t>Learning Rate: 5e-3  (raised from 2e-4 - critical for only 30 training sentences)</a:t>
            </a:r>
          </a:p>
          <a:p>
            <a:pPr algn="l">
              <a:lnSpc>
                <a:spcPct val="120000"/>
              </a:lnSpc>
            </a:pPr>
            <a:r>
              <a:rPr lang="en-IN" sz="1500" b="0" dirty="0">
                <a:latin typeface="Calibri"/>
                <a:cs typeface="Calibri"/>
              </a:rPr>
              <a:t>LR Schedule: OneCycleLR (warmup + annealing for fast convergence on tiny dataset)</a:t>
            </a:r>
          </a:p>
          <a:p>
            <a:pPr algn="l">
              <a:lnSpc>
                <a:spcPct val="120000"/>
              </a:lnSpc>
            </a:pPr>
            <a:r>
              <a:rPr lang="en-IN" sz="1500" b="0" dirty="0">
                <a:latin typeface="Calibri"/>
                <a:cs typeface="Calibri"/>
              </a:rPr>
              <a:t>Epochs: 200  |  Label Smoothing: 0.1 (reduces overconfidence on small data)</a:t>
            </a:r>
          </a:p>
          <a:p>
            <a:pPr algn="l">
              <a:lnSpc>
                <a:spcPct val="120000"/>
              </a:lnSpc>
            </a:pPr>
            <a:r>
              <a:rPr lang="en-IN" sz="1500" b="0" dirty="0">
                <a:latin typeface="Calibri"/>
                <a:cs typeface="Calibri"/>
              </a:rPr>
              <a:t>Mixed Precision: torch.cuda.amp FP16 for GPU memory efficiency.</a:t>
            </a:r>
          </a:p>
          <a:p>
            <a:pPr algn="l">
              <a:lnSpc>
                <a:spcPct val="120000"/>
              </a:lnSpc>
            </a:pPr>
            <a:endParaRPr lang="en-IN" sz="1500" b="0" dirty="0">
              <a:latin typeface="Calibri"/>
              <a:cs typeface="Calibri"/>
            </a:endParaRPr>
          </a:p>
          <a:p>
            <a:pPr algn="l">
              <a:lnSpc>
                <a:spcPct val="120000"/>
              </a:lnSpc>
            </a:pPr>
            <a:r>
              <a:rPr lang="en-IN" sz="1500" b="1" dirty="0">
                <a:latin typeface="Calibri"/>
                <a:cs typeface="Calibri"/>
              </a:rPr>
              <a:t>Memory Optimization:</a:t>
            </a:r>
          </a:p>
          <a:p>
            <a:pPr algn="l">
              <a:lnSpc>
                <a:spcPct val="120000"/>
              </a:lnSpc>
            </a:pPr>
            <a:r>
              <a:rPr lang="en-IN" sz="1500" b="0" dirty="0">
                <a:latin typeface="Calibri"/>
                <a:cs typeface="Calibri"/>
              </a:rPr>
              <a:t>Gradient Checkpointing: Enabled (trades compute for memory on 2B model).</a:t>
            </a:r>
          </a:p>
          <a:p>
            <a:pPr algn="l">
              <a:lnSpc>
                <a:spcPct val="120000"/>
              </a:lnSpc>
            </a:pPr>
            <a:r>
              <a:rPr lang="en-IN" sz="1500" b="0" dirty="0">
                <a:latin typeface="Calibri"/>
                <a:cs typeface="Calibri"/>
              </a:rPr>
              <a:t>Model Initialization: torch.device('meta') to avoid 8GB CPU RAM spike.</a:t>
            </a:r>
          </a:p>
          <a:p>
            <a:pPr algn="l">
              <a:lnSpc>
                <a:spcPct val="120000"/>
              </a:lnSpc>
            </a:pPr>
            <a:r>
              <a:rPr lang="en-IN" sz="1500" b="0" dirty="0">
                <a:latin typeface="Calibri"/>
                <a:cs typeface="Calibri"/>
              </a:rPr>
              <a:t>Then: to_empty(device='cuda') to materialize weights directly on GPU.</a:t>
            </a:r>
          </a:p>
          <a:p>
            <a:pPr algn="l">
              <a:lnSpc>
                <a:spcPct val="120000"/>
              </a:lnSpc>
            </a:pPr>
            <a:endParaRPr lang="en-IN" sz="1500" b="0" dirty="0">
              <a:latin typeface="Calibri"/>
              <a:cs typeface="Calibri"/>
            </a:endParaRPr>
          </a:p>
          <a:p>
            <a:pPr algn="l">
              <a:lnSpc>
                <a:spcPct val="120000"/>
              </a:lnSpc>
            </a:pPr>
            <a:r>
              <a:rPr lang="en-IN" sz="1500" b="1" dirty="0">
                <a:latin typeface="Calibri"/>
                <a:cs typeface="Calibri"/>
              </a:rPr>
              <a:t>Tokenizer Fix:</a:t>
            </a:r>
          </a:p>
          <a:p>
            <a:pPr algn="l">
              <a:lnSpc>
                <a:spcPct val="120000"/>
              </a:lnSpc>
            </a:pPr>
            <a:r>
              <a:rPr lang="en-IN" sz="1500" b="0" dirty="0">
                <a:latin typeface="Calibri"/>
                <a:cs typeface="Calibri"/>
              </a:rPr>
              <a:t>Modified encode() to auto-expand vocabulary for unseen tokens at training time, eliminating &lt;UNK&gt; flood.</a:t>
            </a:r>
          </a:p>
        </p:txBody>
      </p:sp>
      <p:pic>
        <p:nvPicPr>
          <p:cNvPr id="2097155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250" y="6327821"/>
            <a:ext cx="1997990" cy="5182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extShape 1"/>
          <p:cNvSpPr txBox="1"/>
          <p:nvPr/>
        </p:nvSpPr>
        <p:spPr>
          <a:xfrm>
            <a:off x="8065505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endParaRPr lang="en-IN" sz="1200">
              <a:solidFill>
                <a:srgbClr val="8B8B8B"/>
              </a:solidFill>
              <a:latin typeface="Calibri"/>
            </a:endParaRPr>
          </a:p>
        </p:txBody>
      </p:sp>
      <p:sp>
        <p:nvSpPr>
          <p:cNvPr id="1048618" name="Line 2"/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19" name="Line 3"/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20" name="TextShape 4"/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1048621" name="SlideTitle"/>
          <p:cNvSpPr/>
          <p:nvPr/>
        </p:nvSpPr>
        <p:spPr>
          <a:xfrm>
            <a:off x="721387" y="342768"/>
            <a:ext cx="10748865" cy="100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</a:t>
            </a:r>
          </a:p>
        </p:txBody>
      </p:sp>
      <p:sp>
        <p:nvSpPr>
          <p:cNvPr id="1048622" name="HeaderBar"/>
          <p:cNvSpPr/>
          <p:nvPr/>
        </p:nvSpPr>
        <p:spPr>
          <a:xfrm>
            <a:off x="1524000" y="24480"/>
            <a:ext cx="9143640" cy="2728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6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AMBIGUITY IN NLP - HINDI LANGUAGE</a:t>
            </a:r>
          </a:p>
        </p:txBody>
      </p:sp>
      <p:sp>
        <p:nvSpPr>
          <p:cNvPr id="1048623" name="ContentBox"/>
          <p:cNvSpPr txBox="1"/>
          <p:nvPr/>
        </p:nvSpPr>
        <p:spPr>
          <a:xfrm>
            <a:off x="1524000" y="1450000"/>
            <a:ext cx="9143640" cy="4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Pipeline (100+ mappings):</a:t>
            </a:r>
          </a:p>
          <a:p>
            <a:pPr algn="l">
              <a:lnSpc>
                <a:spcPct val="120000"/>
              </a:lnSpc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phonetic: 'ka' → 'क', 'kha' → 'ख', 'ga' → 'ग'</a:t>
            </a:r>
          </a:p>
          <a:p>
            <a:pPr algn="l">
              <a:lnSpc>
                <a:spcPct val="120000"/>
              </a:lnSpc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words: 'dil' → 'दिल', 'pyar' → 'प्यार', 'ghar' → 'घर'</a:t>
            </a:r>
          </a:p>
          <a:p>
            <a:pPr algn="l">
              <a:lnSpc>
                <a:spcPct val="120000"/>
              </a:lnSpc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English bridges: 'heartbreak', 'gold' → corresponding Hindi entries</a:t>
            </a:r>
          </a:p>
          <a:p>
            <a:pPr algn="l">
              <a:lnSpc>
                <a:spcPct val="120000"/>
              </a:lnSpc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Fuzzy fallback: word-overlap on transliterated form if no exact match</a:t>
            </a:r>
          </a:p>
          <a:p>
            <a:pPr algn="l">
              <a:lnSpc>
                <a:spcPct val="120000"/>
              </a:lnSpc>
            </a:pPr>
            <a:endParaRPr lang="en-IN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Interface:</a:t>
            </a:r>
          </a:p>
          <a:p>
            <a:pPr algn="l">
              <a:lnSpc>
                <a:spcPct val="120000"/>
              </a:lnSpc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self-contained HTML5 file. No external library dependencies.</a:t>
            </a:r>
          </a:p>
          <a:p>
            <a:pPr algn="l">
              <a:lnSpc>
                <a:spcPct val="120000"/>
              </a:lnSpc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Hindi (Devanagari) OR Hinglish (Roman) input interchangeably.</a:t>
            </a:r>
          </a:p>
          <a:p>
            <a:pPr algn="l">
              <a:lnSpc>
                <a:spcPct val="120000"/>
              </a:lnSpc>
            </a:pPr>
            <a:r>
              <a:rPr lang="en-IN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both interpretations side-by-side with Hindi + English explanations</a:t>
            </a:r>
            <a:r>
              <a:rPr lang="en-IN" sz="1500" b="0" dirty="0">
                <a:latin typeface="Calibri"/>
                <a:cs typeface="Calibri"/>
              </a:rPr>
              <a:t>.</a:t>
            </a:r>
          </a:p>
        </p:txBody>
      </p:sp>
      <p:pic>
        <p:nvPicPr>
          <p:cNvPr id="2097155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250" y="6327821"/>
            <a:ext cx="1997990" cy="5182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BC938-097E-BCC2-9592-24EE6C967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extShape 1">
            <a:extLst>
              <a:ext uri="{FF2B5EF4-FFF2-40B4-BE49-F238E27FC236}">
                <a16:creationId xmlns:a16="http://schemas.microsoft.com/office/drawing/2014/main" id="{66B7F566-2BDA-8F43-BE4F-71581A2A04C6}"/>
              </a:ext>
            </a:extLst>
          </p:cNvPr>
          <p:cNvSpPr txBox="1"/>
          <p:nvPr/>
        </p:nvSpPr>
        <p:spPr>
          <a:xfrm>
            <a:off x="8065505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endParaRPr lang="en-IN" sz="1200">
              <a:solidFill>
                <a:srgbClr val="8B8B8B"/>
              </a:solidFill>
              <a:latin typeface="Calibri"/>
            </a:endParaRPr>
          </a:p>
        </p:txBody>
      </p:sp>
      <p:sp>
        <p:nvSpPr>
          <p:cNvPr id="1048618" name="Line 2">
            <a:extLst>
              <a:ext uri="{FF2B5EF4-FFF2-40B4-BE49-F238E27FC236}">
                <a16:creationId xmlns:a16="http://schemas.microsoft.com/office/drawing/2014/main" id="{81A2AD19-87FE-BADA-1895-EBEE8C4630F5}"/>
              </a:ext>
            </a:extLst>
          </p:cNvPr>
          <p:cNvSpPr/>
          <p:nvPr/>
        </p:nvSpPr>
        <p:spPr>
          <a:xfrm>
            <a:off x="1524000" y="3045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19" name="Line 3">
            <a:extLst>
              <a:ext uri="{FF2B5EF4-FFF2-40B4-BE49-F238E27FC236}">
                <a16:creationId xmlns:a16="http://schemas.microsoft.com/office/drawing/2014/main" id="{5615C093-56BE-4FAF-6375-18B7510F6CBF}"/>
              </a:ext>
            </a:extLst>
          </p:cNvPr>
          <p:cNvSpPr/>
          <p:nvPr/>
        </p:nvSpPr>
        <p:spPr>
          <a:xfrm>
            <a:off x="1524000" y="6476760"/>
            <a:ext cx="9144000" cy="1800"/>
          </a:xfrm>
          <a:prstGeom prst="line">
            <a:avLst/>
          </a:prstGeom>
          <a:ln w="38160">
            <a:solidFill>
              <a:schemeClr val="tx1"/>
            </a:solidFill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48620" name="TextShape 4">
            <a:extLst>
              <a:ext uri="{FF2B5EF4-FFF2-40B4-BE49-F238E27FC236}">
                <a16:creationId xmlns:a16="http://schemas.microsoft.com/office/drawing/2014/main" id="{B79B5259-F420-7F77-C542-89207175E839}"/>
              </a:ext>
            </a:extLst>
          </p:cNvPr>
          <p:cNvSpPr txBox="1"/>
          <p:nvPr/>
        </p:nvSpPr>
        <p:spPr>
          <a:xfrm>
            <a:off x="1524000" y="6492960"/>
            <a:ext cx="9143640" cy="364680"/>
          </a:xfrm>
          <a:prstGeom prst="rect">
            <a:avLst/>
          </a:prstGeom>
          <a:solidFill>
            <a:srgbClr val="D7E4BD"/>
          </a:solidFill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Department of AI&amp;DS</a:t>
            </a:r>
          </a:p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8B8B8B"/>
                </a:solidFill>
                <a:latin typeface="Calibri"/>
              </a:rPr>
              <a:t>Sikkim Manipal Institute of Technology,  SMU</a:t>
            </a:r>
          </a:p>
        </p:txBody>
      </p:sp>
      <p:sp>
        <p:nvSpPr>
          <p:cNvPr id="1048621" name="SlideTitle">
            <a:extLst>
              <a:ext uri="{FF2B5EF4-FFF2-40B4-BE49-F238E27FC236}">
                <a16:creationId xmlns:a16="http://schemas.microsoft.com/office/drawing/2014/main" id="{3EA6C18A-7D89-5A19-37A7-25B923371941}"/>
              </a:ext>
            </a:extLst>
          </p:cNvPr>
          <p:cNvSpPr/>
          <p:nvPr/>
        </p:nvSpPr>
        <p:spPr>
          <a:xfrm>
            <a:off x="721387" y="342768"/>
            <a:ext cx="10748865" cy="100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</a:t>
            </a:r>
          </a:p>
        </p:txBody>
      </p:sp>
      <p:sp>
        <p:nvSpPr>
          <p:cNvPr id="1048622" name="HeaderBar">
            <a:extLst>
              <a:ext uri="{FF2B5EF4-FFF2-40B4-BE49-F238E27FC236}">
                <a16:creationId xmlns:a16="http://schemas.microsoft.com/office/drawing/2014/main" id="{043DAF86-E486-8A10-91F2-0E04B955EDB2}"/>
              </a:ext>
            </a:extLst>
          </p:cNvPr>
          <p:cNvSpPr/>
          <p:nvPr/>
        </p:nvSpPr>
        <p:spPr>
          <a:xfrm>
            <a:off x="1524000" y="24480"/>
            <a:ext cx="9143640" cy="2728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5000" rIns="90000" bIns="45000"/>
          <a:lstStyle/>
          <a:p>
            <a:r>
              <a:rPr lang="en-US" sz="16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AMBIGUITY IN NLP - HINDI LANGUAGE</a:t>
            </a:r>
          </a:p>
        </p:txBody>
      </p:sp>
      <p:sp>
        <p:nvSpPr>
          <p:cNvPr id="1048623" name="ContentBox">
            <a:extLst>
              <a:ext uri="{FF2B5EF4-FFF2-40B4-BE49-F238E27FC236}">
                <a16:creationId xmlns:a16="http://schemas.microsoft.com/office/drawing/2014/main" id="{7187D5DA-E201-77B9-E6AA-A0E90B125C15}"/>
              </a:ext>
            </a:extLst>
          </p:cNvPr>
          <p:cNvSpPr txBox="1"/>
          <p:nvPr/>
        </p:nvSpPr>
        <p:spPr>
          <a:xfrm>
            <a:off x="1524000" y="1450000"/>
            <a:ext cx="9143640" cy="4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>
              <a:lnSpc>
                <a:spcPct val="120000"/>
              </a:lnSpc>
            </a:pPr>
            <a:endParaRPr lang="en-IN" sz="1500" b="0" dirty="0">
              <a:latin typeface="Calibri"/>
              <a:cs typeface="Calibri"/>
            </a:endParaRPr>
          </a:p>
        </p:txBody>
      </p:sp>
      <p:pic>
        <p:nvPicPr>
          <p:cNvPr id="2097155" name="Picture 1">
            <a:extLst>
              <a:ext uri="{FF2B5EF4-FFF2-40B4-BE49-F238E27FC236}">
                <a16:creationId xmlns:a16="http://schemas.microsoft.com/office/drawing/2014/main" id="{F93EEF76-7F29-C405-36A8-E86D63516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250" y="6327821"/>
            <a:ext cx="1997990" cy="5182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835B57-4135-90FD-35DD-95F1E7DDA4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23" y="842768"/>
            <a:ext cx="10048567" cy="49350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DB239B-E439-6B46-7328-C7F7D39C79CA}"/>
              </a:ext>
            </a:extLst>
          </p:cNvPr>
          <p:cNvSpPr txBox="1"/>
          <p:nvPr/>
        </p:nvSpPr>
        <p:spPr>
          <a:xfrm>
            <a:off x="4350654" y="5845109"/>
            <a:ext cx="4781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 1: User Interface of the Model</a:t>
            </a:r>
          </a:p>
        </p:txBody>
      </p:sp>
    </p:spTree>
    <p:extLst>
      <p:ext uri="{BB962C8B-B14F-4D97-AF65-F5344CB8AC3E}">
        <p14:creationId xmlns:p14="http://schemas.microsoft.com/office/powerpoint/2010/main" val="524718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mini_proj1 (1) (1)</Template>
  <TotalTime>24</TotalTime>
  <Words>1164</Words>
  <Application>Microsoft Office PowerPoint</Application>
  <PresentationFormat>Widescreen</PresentationFormat>
  <Paragraphs>158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Aparajita Sah</dc:creator>
  <cp:lastModifiedBy>Aparajita Sah</cp:lastModifiedBy>
  <cp:revision>3</cp:revision>
  <dcterms:created xsi:type="dcterms:W3CDTF">2026-04-21T22:09:46Z</dcterms:created>
  <dcterms:modified xsi:type="dcterms:W3CDTF">2026-04-22T10:34:00Z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53e04fb0f902470e8c82b201ef98790f</vt:lpwstr>
  </property>
</Properties>
</file>