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46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979FF"/>
          </a:solidFill>
          <a:ln w="12700">
            <a:solidFill>
              <a:srgbClr val="2979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54864" cy="5143500"/>
          </a:xfrm>
          <a:prstGeom prst="rect">
            <a:avLst/>
          </a:prstGeom>
          <a:solidFill>
            <a:srgbClr val="1976D2">
              <a:alpha val="50000"/>
            </a:srgbClr>
          </a:solidFill>
          <a:ln w="12700">
            <a:solidFill>
              <a:srgbClr val="1976D2">
                <a:alpha val="5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924544" y="0"/>
            <a:ext cx="219456" cy="5143500"/>
          </a:xfrm>
          <a:prstGeom prst="rect">
            <a:avLst/>
          </a:prstGeom>
          <a:solidFill>
            <a:srgbClr val="2979FF">
              <a:alpha val="30000"/>
            </a:srgbClr>
          </a:solidFill>
          <a:ln w="12700">
            <a:solidFill>
              <a:srgbClr val="2979FF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201168"/>
            <a:ext cx="2194560" cy="45720"/>
          </a:xfrm>
          <a:prstGeom prst="rect">
            <a:avLst/>
          </a:prstGeom>
          <a:solidFill>
            <a:srgbClr val="2979FF"/>
          </a:solidFill>
          <a:ln w="12700">
            <a:solidFill>
              <a:srgbClr val="2979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spc="400" kern="0" dirty="0">
                <a:solidFill>
                  <a:srgbClr val="64B5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 |  HINDI AI  |  AMBIGUITY RESOLUTION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91440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Hindi Ambiguity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457200" y="169164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297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Resolution System</a:t>
            </a:r>
            <a:endParaRPr lang="en-US" sz="5200" dirty="0"/>
          </a:p>
        </p:txBody>
      </p:sp>
      <p:sp>
        <p:nvSpPr>
          <p:cNvPr id="9" name="Text 7"/>
          <p:cNvSpPr/>
          <p:nvPr/>
        </p:nvSpPr>
        <p:spPr>
          <a:xfrm>
            <a:off x="457200" y="274320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हिंदी भाषा की अस्पष्टता — Transformer, Rule-Based Engine &amp; Interactive Web Interface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57200" y="3520440"/>
            <a:ext cx="1920240" cy="1234440"/>
          </a:xfrm>
          <a:prstGeom prst="rect">
            <a:avLst/>
          </a:prstGeom>
          <a:solidFill>
            <a:srgbClr val="1976D2">
              <a:alpha val="25000"/>
            </a:srgbClr>
          </a:solidFill>
          <a:ln w="12700">
            <a:solidFill>
              <a:srgbClr val="2979FF">
                <a:alpha val="7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56616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97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60+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457200" y="406908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Ambiguity Entries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560320" y="3520440"/>
            <a:ext cx="1920240" cy="1234440"/>
          </a:xfrm>
          <a:prstGeom prst="rect">
            <a:avLst/>
          </a:prstGeom>
          <a:solidFill>
            <a:srgbClr val="1976D2">
              <a:alpha val="25000"/>
            </a:srgbClr>
          </a:solidFill>
          <a:ln w="12700">
            <a:solidFill>
              <a:srgbClr val="2979FF">
                <a:alpha val="7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60320" y="356616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97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2560320" y="406908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Ambiguity Types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663440" y="3520440"/>
            <a:ext cx="1920240" cy="1234440"/>
          </a:xfrm>
          <a:prstGeom prst="rect">
            <a:avLst/>
          </a:prstGeom>
          <a:solidFill>
            <a:srgbClr val="1976D2">
              <a:alpha val="25000"/>
            </a:srgbClr>
          </a:solidFill>
          <a:ln w="12700">
            <a:solidFill>
              <a:srgbClr val="2979FF">
                <a:alpha val="7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63440" y="356616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97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2–4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4663440" y="406908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Meanings Per Entry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766560" y="3520440"/>
            <a:ext cx="1920240" cy="1234440"/>
          </a:xfrm>
          <a:prstGeom prst="rect">
            <a:avLst/>
          </a:prstGeom>
          <a:solidFill>
            <a:srgbClr val="1976D2">
              <a:alpha val="25000"/>
            </a:srgbClr>
          </a:solidFill>
          <a:ln w="12700">
            <a:solidFill>
              <a:srgbClr val="2979FF">
                <a:alpha val="7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766560" y="356616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97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2B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6766560" y="406908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 Model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Detailed Technical Presentation  •  Hindi NLP Research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A2463"/>
          </a:solidFill>
          <a:ln w="12700">
            <a:solidFill>
              <a:srgbClr val="0A246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of Contents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914400"/>
            <a:ext cx="384048" cy="384048"/>
          </a:xfrm>
          <a:prstGeom prst="rect">
            <a:avLst/>
          </a:prstGeom>
          <a:solidFill>
            <a:srgbClr val="2979FF"/>
          </a:solidFill>
          <a:ln w="12700">
            <a:solidFill>
              <a:srgbClr val="2979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9144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04672" y="923544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2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Ambiguity in NLP?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04672" y="111556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Types, challenges, and Hindi-specific examples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20040" y="1581912"/>
            <a:ext cx="384048" cy="384048"/>
          </a:xfrm>
          <a:prstGeom prst="rect">
            <a:avLst/>
          </a:prstGeom>
          <a:solidFill>
            <a:srgbClr val="2979FF"/>
          </a:solidFill>
          <a:ln w="12700">
            <a:solidFill>
              <a:srgbClr val="2979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58191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04672" y="1591056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2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Ambiguity Types Deep Dive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04672" y="178308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Lexical, Syntactic, Semantic, Pragmatic, Idiomatic, Referential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20040" y="2249424"/>
            <a:ext cx="384048" cy="384048"/>
          </a:xfrm>
          <a:prstGeom prst="rect">
            <a:avLst/>
          </a:prstGeom>
          <a:solidFill>
            <a:srgbClr val="2979FF"/>
          </a:solidFill>
          <a:ln w="12700">
            <a:solidFill>
              <a:srgbClr val="2979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224942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04672" y="2258568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2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 Overview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04672" y="245059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engine + 2B Transformer model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20040" y="2916936"/>
            <a:ext cx="384048" cy="384048"/>
          </a:xfrm>
          <a:prstGeom prst="rect">
            <a:avLst/>
          </a:prstGeom>
          <a:solidFill>
            <a:srgbClr val="2979FF"/>
          </a:solidFill>
          <a:ln w="12700">
            <a:solidFill>
              <a:srgbClr val="2979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291693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04672" y="292608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2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2B Parameter Transformer Model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04672" y="3118104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RoPE, GQA, SwiGLU, RMSNorm — every component explained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20040" y="3584448"/>
            <a:ext cx="384048" cy="384048"/>
          </a:xfrm>
          <a:prstGeom prst="rect">
            <a:avLst/>
          </a:prstGeom>
          <a:solidFill>
            <a:srgbClr val="2979FF"/>
          </a:solidFill>
          <a:ln w="12700">
            <a:solidFill>
              <a:srgbClr val="2979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358444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04672" y="3593592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2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Pipeline &amp; Dataset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04672" y="3785616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Data, tokenizer, training loop, loss convergence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20040" y="4251960"/>
            <a:ext cx="384048" cy="384048"/>
          </a:xfrm>
          <a:prstGeom prst="rect">
            <a:avLst/>
          </a:prstGeom>
          <a:solidFill>
            <a:srgbClr val="2979FF"/>
          </a:solidFill>
          <a:ln w="12700">
            <a:solidFill>
              <a:srgbClr val="2979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0040" y="42519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04672" y="4261104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2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Ambiguity Database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04672" y="445312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60-entry knowledge base with fuzzy matching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754880" y="914400"/>
            <a:ext cx="384048" cy="384048"/>
          </a:xfrm>
          <a:prstGeom prst="rect">
            <a:avLst/>
          </a:prstGeom>
          <a:solidFill>
            <a:srgbClr val="0A2463"/>
          </a:solidFill>
          <a:ln w="12700">
            <a:solidFill>
              <a:srgbClr val="0A246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54880" y="9144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230368" y="923544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2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Hinglish Input Processing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230368" y="111556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Roman-to-Devanagari mapping, 100+ aliases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754880" y="1581912"/>
            <a:ext cx="384048" cy="384048"/>
          </a:xfrm>
          <a:prstGeom prst="rect">
            <a:avLst/>
          </a:prstGeom>
          <a:solidFill>
            <a:srgbClr val="0A2463"/>
          </a:solidFill>
          <a:ln w="12700">
            <a:solidFill>
              <a:srgbClr val="0A246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54880" y="158191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230368" y="1591056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2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Interface — HTML/CSS/JS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230368" y="178308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Architecture, search, filter, UI components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754880" y="2249424"/>
            <a:ext cx="384048" cy="384048"/>
          </a:xfrm>
          <a:prstGeom prst="rect">
            <a:avLst/>
          </a:prstGeom>
          <a:solidFill>
            <a:srgbClr val="0A2463"/>
          </a:solidFill>
          <a:ln w="12700">
            <a:solidFill>
              <a:srgbClr val="0A246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54880" y="224942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230368" y="2258568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2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Colab Integration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5230368" y="245059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the full system in Google Colab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754880" y="2916936"/>
            <a:ext cx="384048" cy="384048"/>
          </a:xfrm>
          <a:prstGeom prst="rect">
            <a:avLst/>
          </a:prstGeom>
          <a:solidFill>
            <a:srgbClr val="0A2463"/>
          </a:solidFill>
          <a:ln w="12700">
            <a:solidFill>
              <a:srgbClr val="0A2463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54880" y="291693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5230368" y="292608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2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Results, Output &amp; Evaluation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5230368" y="3118104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outputs, error analysis, performance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4754880" y="3584448"/>
            <a:ext cx="384048" cy="384048"/>
          </a:xfrm>
          <a:prstGeom prst="rect">
            <a:avLst/>
          </a:prstGeom>
          <a:solidFill>
            <a:srgbClr val="0A2463"/>
          </a:solidFill>
          <a:ln w="12700">
            <a:solidFill>
              <a:srgbClr val="0A2463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754880" y="358444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5230368" y="3593592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2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&amp; Technologies Used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5230368" y="3785616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stack: Python, PyTorch, JS, HTML, CSS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4754880" y="4251960"/>
            <a:ext cx="384048" cy="384048"/>
          </a:xfrm>
          <a:prstGeom prst="rect">
            <a:avLst/>
          </a:prstGeom>
          <a:solidFill>
            <a:srgbClr val="0A2463"/>
          </a:solidFill>
          <a:ln w="12700">
            <a:solidFill>
              <a:srgbClr val="0A2463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754880" y="42519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5230368" y="4261104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2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Future Work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5230368" y="445312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Limitations, improvements, production roadmap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4572000" y="914400"/>
            <a:ext cx="0" cy="3931920"/>
          </a:xfrm>
          <a:prstGeom prst="line">
            <a:avLst/>
          </a:prstGeom>
          <a:noFill/>
          <a:ln w="6350">
            <a:solidFill>
              <a:srgbClr val="B0BEC5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A2463"/>
          </a:solidFill>
          <a:ln w="12700">
            <a:solidFill>
              <a:srgbClr val="0A246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 What is Ambiguity in NLP?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960120"/>
          </a:xfrm>
          <a:prstGeom prst="rect">
            <a:avLst/>
          </a:prstGeom>
          <a:solidFill>
            <a:srgbClr val="E3F2FD"/>
          </a:solidFill>
          <a:ln w="12700">
            <a:solidFill>
              <a:srgbClr val="BBDEF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987552"/>
            <a:ext cx="81381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A2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Ambiguity </a:t>
            </a:r>
            <a:pPr indent="0" marL="0">
              <a:buNone/>
            </a:pPr>
            <a:r>
              <a:rPr lang="en-US" sz="13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Natural Language Processing refers to a situation where a word, phrase, or sentence can have </a:t>
            </a:r>
            <a:pPr indent="0" marL="0">
              <a:buNone/>
            </a:pPr>
            <a:r>
              <a:rPr lang="en-US" sz="1350" b="1" dirty="0">
                <a:solidFill>
                  <a:srgbClr val="297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valid interpretations</a:t>
            </a:r>
            <a:pPr indent="0" marL="0">
              <a:buNone/>
            </a:pPr>
            <a:r>
              <a:rPr lang="en-US" sz="13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without sufficient context to determine the correct one. Hindi is especially prone to ambiguity due to its rich morphology, homophones, and idiomatic expressions.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365760" y="20116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2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Hindi Presents Unique Challenges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65760" y="2468880"/>
            <a:ext cx="2788920" cy="960120"/>
          </a:xfrm>
          <a:prstGeom prst="rect">
            <a:avLst/>
          </a:prstGeom>
          <a:solidFill>
            <a:srgbClr val="F5F9FF"/>
          </a:solidFill>
          <a:ln w="12700">
            <a:solidFill>
              <a:srgbClr val="BBDEF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75488" y="2532888"/>
            <a:ext cx="25786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A2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🔤  Polysemous Words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75488" y="2788920"/>
            <a:ext cx="257860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words like कल (yesterday/tomorrow), सोना (sleep/gold) carry completely different meanings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310128" y="2468880"/>
            <a:ext cx="2788920" cy="960120"/>
          </a:xfrm>
          <a:prstGeom prst="rect">
            <a:avLst/>
          </a:prstGeom>
          <a:solidFill>
            <a:srgbClr val="F5F9FF"/>
          </a:solidFill>
          <a:ln w="12700">
            <a:solidFill>
              <a:srgbClr val="BBDEF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419856" y="2532888"/>
            <a:ext cx="25786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A2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Free Word Order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3419856" y="2788920"/>
            <a:ext cx="257860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Hindi's SOV structure allows flexible ordering, creating syntactic ambiguity in phrase attachment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254496" y="2468880"/>
            <a:ext cx="2788920" cy="960120"/>
          </a:xfrm>
          <a:prstGeom prst="rect">
            <a:avLst/>
          </a:prstGeom>
          <a:solidFill>
            <a:srgbClr val="F5F9FF"/>
          </a:solidFill>
          <a:ln w="12700">
            <a:solidFill>
              <a:srgbClr val="BBDEF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364224" y="2532888"/>
            <a:ext cx="25786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A2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 Rich Idioms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364224" y="2788920"/>
            <a:ext cx="257860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Muhaavare (idioms) like 'नाक कट गई' have figurative meanings entirely different from literal reading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3566160"/>
            <a:ext cx="2788920" cy="960120"/>
          </a:xfrm>
          <a:prstGeom prst="rect">
            <a:avLst/>
          </a:prstGeom>
          <a:solidFill>
            <a:srgbClr val="F5F9FF"/>
          </a:solidFill>
          <a:ln w="12700">
            <a:solidFill>
              <a:srgbClr val="BBDEF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75488" y="3630168"/>
            <a:ext cx="25786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A2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  Pronoun Reference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75488" y="3886200"/>
            <a:ext cx="257860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Pronouns (वह, उसकी) often refer ambiguously to multiple possible antecedents in a sentence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310128" y="3566160"/>
            <a:ext cx="2788920" cy="960120"/>
          </a:xfrm>
          <a:prstGeom prst="rect">
            <a:avLst/>
          </a:prstGeom>
          <a:solidFill>
            <a:srgbClr val="F5F9FF"/>
          </a:solidFill>
          <a:ln w="12700">
            <a:solidFill>
              <a:srgbClr val="BBDEF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419856" y="3630168"/>
            <a:ext cx="25786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A2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🎭  Pragmatic Layers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3419856" y="3886200"/>
            <a:ext cx="257860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Context-dependent speech acts — a question can be a command, an observation can be a request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254496" y="3566160"/>
            <a:ext cx="2788920" cy="960120"/>
          </a:xfrm>
          <a:prstGeom prst="rect">
            <a:avLst/>
          </a:prstGeom>
          <a:solidFill>
            <a:srgbClr val="F5F9FF"/>
          </a:solidFill>
          <a:ln w="12700">
            <a:solidFill>
              <a:srgbClr val="BBDEF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364224" y="3630168"/>
            <a:ext cx="25786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A2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🔡  Script Variation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364224" y="3886200"/>
            <a:ext cx="257860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Hinglish (Romanized Hindi) introduces additional ambiguity through transliteration inconsistencies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976D2"/>
          </a:solidFill>
          <a:ln w="12700">
            <a:solidFill>
              <a:srgbClr val="1976D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 Six Types of Ambiguity in Hindi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20040" y="914400"/>
            <a:ext cx="42062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CEF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914400"/>
            <a:ext cx="73152" cy="1234440"/>
          </a:xfrm>
          <a:prstGeom prst="rect">
            <a:avLst/>
          </a:prstGeom>
          <a:solidFill>
            <a:srgbClr val="2979FF"/>
          </a:solidFill>
          <a:ln w="12700">
            <a:solidFill>
              <a:srgbClr val="2979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84632" y="98755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97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Lexical — शाब्दिक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84632" y="126187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word carries 2+ entirely different meanings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84632" y="1627632"/>
            <a:ext cx="3886200" cy="402336"/>
          </a:xfrm>
          <a:prstGeom prst="rect">
            <a:avLst/>
          </a:prstGeom>
          <a:solidFill>
            <a:srgbClr val="2979FF">
              <a:alpha val="12000"/>
            </a:srgbClr>
          </a:solidFill>
          <a:ln w="12700">
            <a:solidFill>
              <a:srgbClr val="2979FF">
                <a:alpha val="5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76072" y="1664208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297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 कल → Yesterday / Tomorrow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54880" y="914400"/>
            <a:ext cx="42062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CEF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914400"/>
            <a:ext cx="73152" cy="1234440"/>
          </a:xfrm>
          <a:prstGeom prst="rect">
            <a:avLst/>
          </a:prstGeom>
          <a:solidFill>
            <a:srgbClr val="0A2463"/>
          </a:solidFill>
          <a:ln w="12700">
            <a:solidFill>
              <a:srgbClr val="0A246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19472" y="98755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Syntactic — वाक्यरचना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919472" y="126187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 structure permits multiple valid parse trees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919472" y="1627632"/>
            <a:ext cx="3886200" cy="402336"/>
          </a:xfrm>
          <a:prstGeom prst="rect">
            <a:avLst/>
          </a:prstGeom>
          <a:solidFill>
            <a:srgbClr val="0A2463">
              <a:alpha val="12000"/>
            </a:srgbClr>
          </a:solidFill>
          <a:ln w="12700">
            <a:solidFill>
              <a:srgbClr val="0A2463">
                <a:alpha val="5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10912" y="1664208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A2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 दूरबीन से आदमी को देखा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0040" y="2286000"/>
            <a:ext cx="42062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CEF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" y="2286000"/>
            <a:ext cx="73152" cy="1234440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4632" y="235915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7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— अर्थात्मक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4632" y="263347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Meaning changes based on world knowledge &amp; context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84632" y="2999232"/>
            <a:ext cx="3886200" cy="402336"/>
          </a:xfrm>
          <a:prstGeom prst="rect">
            <a:avLst/>
          </a:prstGeom>
          <a:solidFill>
            <a:srgbClr val="00796B">
              <a:alpha val="12000"/>
            </a:srgbClr>
          </a:solidFill>
          <a:ln w="12700">
            <a:solidFill>
              <a:srgbClr val="00796B">
                <a:alpha val="5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76072" y="3035808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07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 वह घर में घुस गया → entered/trespassed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754880" y="2286000"/>
            <a:ext cx="42062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CEF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54880" y="2286000"/>
            <a:ext cx="73152" cy="1234440"/>
          </a:xfrm>
          <a:prstGeom prst="rect">
            <a:avLst/>
          </a:prstGeom>
          <a:solidFill>
            <a:srgbClr val="7E57C2"/>
          </a:solidFill>
          <a:ln w="12700">
            <a:solidFill>
              <a:srgbClr val="7E57C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19472" y="235915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E5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Pragmatic — व्यावहारिक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919472" y="263347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Speaker intent differs from literal meaning of utterance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919472" y="2999232"/>
            <a:ext cx="3886200" cy="402336"/>
          </a:xfrm>
          <a:prstGeom prst="rect">
            <a:avLst/>
          </a:prstGeom>
          <a:solidFill>
            <a:srgbClr val="7E57C2">
              <a:alpha val="12000"/>
            </a:srgbClr>
          </a:solidFill>
          <a:ln w="12700">
            <a:solidFill>
              <a:srgbClr val="7E57C2">
                <a:alpha val="5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10912" y="3035808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E5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 यहाँ बहुत ठंड है → fact / request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20040" y="3657600"/>
            <a:ext cx="42062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CEF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20040" y="3657600"/>
            <a:ext cx="73152" cy="1234440"/>
          </a:xfrm>
          <a:prstGeom prst="rect">
            <a:avLst/>
          </a:prstGeom>
          <a:solidFill>
            <a:srgbClr val="F57F17"/>
          </a:solidFill>
          <a:ln w="12700">
            <a:solidFill>
              <a:srgbClr val="F57F1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4632" y="373075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7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Idiomatic — मुहावरा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84632" y="400507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Figurative idioms vs. their literal word-by-word reading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84632" y="4370832"/>
            <a:ext cx="3886200" cy="402336"/>
          </a:xfrm>
          <a:prstGeom prst="rect">
            <a:avLst/>
          </a:prstGeom>
          <a:solidFill>
            <a:srgbClr val="F57F17">
              <a:alpha val="12000"/>
            </a:srgbClr>
          </a:solidFill>
          <a:ln w="12700">
            <a:solidFill>
              <a:srgbClr val="F57F17">
                <a:alpha val="50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76072" y="4407408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57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 दिल टूट गया → literal / heartbreak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754880" y="3657600"/>
            <a:ext cx="42062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CEF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754880" y="3657600"/>
            <a:ext cx="73152" cy="123444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919472" y="373075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Referential — संदर्भात्मक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4919472" y="400507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Pronouns (वह, उसकी) with ambiguous antecedents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4919472" y="4370832"/>
            <a:ext cx="3886200" cy="402336"/>
          </a:xfrm>
          <a:prstGeom prst="rect">
            <a:avLst/>
          </a:prstGeom>
          <a:solidFill>
            <a:srgbClr val="C62828">
              <a:alpha val="12000"/>
            </a:srgbClr>
          </a:solidFill>
          <a:ln w="12700">
            <a:solidFill>
              <a:srgbClr val="C62828">
                <a:alpha val="5000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010912" y="4407408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 वह बीमार है → who is 'वह'?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A2463"/>
          </a:solidFill>
          <a:ln w="12700">
            <a:solidFill>
              <a:srgbClr val="0A246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 System Architecture Overview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89611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Two-Track Architecture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20040" y="1261872"/>
            <a:ext cx="397764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BBDEF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261872"/>
            <a:ext cx="3977640" cy="384048"/>
          </a:xfrm>
          <a:prstGeom prst="rect">
            <a:avLst/>
          </a:prstGeom>
          <a:solidFill>
            <a:srgbClr val="1976D2"/>
          </a:solidFill>
          <a:ln w="12700">
            <a:solidFill>
              <a:srgbClr val="1976D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298448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A — Rule-Based Engine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737360"/>
            <a:ext cx="3703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2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User inputs Hindi or Hinglish text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2167128"/>
            <a:ext cx="3703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Hinglish → Hindi mapping (100+ aliases)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2596896"/>
            <a:ext cx="3703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2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Exact key match in 60-entry DB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3026664"/>
            <a:ext cx="3703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Fuzzy word-overlap scoring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3456432"/>
            <a:ext cx="3703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2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⑤ Best-match entry selected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3886200"/>
            <a:ext cx="3703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⑥ 2–4 meanings returned instantly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4315968"/>
            <a:ext cx="3703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2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⑦ Displayed in blue-white UI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297680" y="274320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97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315968" y="2944368"/>
            <a:ext cx="512064" cy="0"/>
          </a:xfrm>
          <a:prstGeom prst="line">
            <a:avLst/>
          </a:prstGeom>
          <a:noFill/>
          <a:ln w="12700">
            <a:solidFill>
              <a:srgbClr val="2979FF"/>
            </a:solidFill>
            <a:prstDash val="dash"/>
          </a:ln>
        </p:spPr>
      </p:sp>
      <p:sp>
        <p:nvSpPr>
          <p:cNvPr id="17" name="Shape 15"/>
          <p:cNvSpPr/>
          <p:nvPr/>
        </p:nvSpPr>
        <p:spPr>
          <a:xfrm>
            <a:off x="4846320" y="1261872"/>
            <a:ext cx="397764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BBDEF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846320" y="1261872"/>
            <a:ext cx="3977640" cy="384048"/>
          </a:xfrm>
          <a:prstGeom prst="rect">
            <a:avLst/>
          </a:prstGeom>
          <a:solidFill>
            <a:srgbClr val="0A2463"/>
          </a:solidFill>
          <a:ln w="12700">
            <a:solidFill>
              <a:srgbClr val="0A246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37760" y="1298448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B — 2B Transformer Model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983480" y="1737360"/>
            <a:ext cx="3703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2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Sentence tokenized via SentencePiece BPE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983480" y="2167128"/>
            <a:ext cx="3703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Token IDs embedded (d_model = 2048)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983480" y="2596896"/>
            <a:ext cx="3703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2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RoPE positional encoding injected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983480" y="3026664"/>
            <a:ext cx="3703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24 × Decoder blocks (GQA + SwiGLU)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983480" y="3456432"/>
            <a:ext cx="3703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2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⑤ &lt;INT1&gt; → Interpretation 1 generated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983480" y="3886200"/>
            <a:ext cx="3703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⑥ &lt;SEP&gt; → &lt;INT2&gt; → Interpretation 2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983480" y="4315968"/>
            <a:ext cx="3703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2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⑦ Nucleus sampling (top-p = 0.9)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20040" y="4818888"/>
            <a:ext cx="8503920" cy="256032"/>
          </a:xfrm>
          <a:prstGeom prst="rect">
            <a:avLst/>
          </a:prstGeom>
          <a:solidFill>
            <a:srgbClr val="E3F2FD"/>
          </a:solidFill>
          <a:ln w="12700">
            <a:solidFill>
              <a:srgbClr val="BBDEF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11480" y="4837176"/>
            <a:ext cx="8321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197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tracks share the same Hinglish preprocessor and output formatter — results displayed in the blue-white HTML interface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2979FF"/>
          </a:solidFill>
          <a:ln w="12700">
            <a:solidFill>
              <a:srgbClr val="2979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 2B Parameter Transformer — Full Architecture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20040" y="868680"/>
            <a:ext cx="1298448" cy="658368"/>
          </a:xfrm>
          <a:prstGeom prst="rect">
            <a:avLst/>
          </a:prstGeom>
          <a:solidFill>
            <a:srgbClr val="0A2463"/>
          </a:solidFill>
          <a:ln w="12700">
            <a:solidFill>
              <a:srgbClr val="0A246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20040" y="896112"/>
            <a:ext cx="12984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97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2048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20040" y="1188720"/>
            <a:ext cx="12984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d_model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1746504" y="868680"/>
            <a:ext cx="1298448" cy="658368"/>
          </a:xfrm>
          <a:prstGeom prst="rect">
            <a:avLst/>
          </a:prstGeom>
          <a:solidFill>
            <a:srgbClr val="0A2463"/>
          </a:solidFill>
          <a:ln w="12700">
            <a:solidFill>
              <a:srgbClr val="0A246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746504" y="896112"/>
            <a:ext cx="12984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97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746504" y="1188720"/>
            <a:ext cx="12984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Attn Heads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172968" y="868680"/>
            <a:ext cx="1298448" cy="658368"/>
          </a:xfrm>
          <a:prstGeom prst="rect">
            <a:avLst/>
          </a:prstGeom>
          <a:solidFill>
            <a:srgbClr val="0A2463"/>
          </a:solidFill>
          <a:ln w="12700">
            <a:solidFill>
              <a:srgbClr val="0A246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172968" y="896112"/>
            <a:ext cx="12984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97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172968" y="1188720"/>
            <a:ext cx="12984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599432" y="868680"/>
            <a:ext cx="1298448" cy="658368"/>
          </a:xfrm>
          <a:prstGeom prst="rect">
            <a:avLst/>
          </a:prstGeom>
          <a:solidFill>
            <a:srgbClr val="0A2463"/>
          </a:solidFill>
          <a:ln w="12700">
            <a:solidFill>
              <a:srgbClr val="0A246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599432" y="896112"/>
            <a:ext cx="12984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97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8192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599432" y="1188720"/>
            <a:ext cx="12984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FFN dim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025896" y="868680"/>
            <a:ext cx="1298448" cy="658368"/>
          </a:xfrm>
          <a:prstGeom prst="rect">
            <a:avLst/>
          </a:prstGeom>
          <a:solidFill>
            <a:srgbClr val="0A2463"/>
          </a:solidFill>
          <a:ln w="12700">
            <a:solidFill>
              <a:srgbClr val="0A246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025896" y="896112"/>
            <a:ext cx="12984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97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32k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025896" y="1188720"/>
            <a:ext cx="12984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 size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7452360" y="868680"/>
            <a:ext cx="1298448" cy="658368"/>
          </a:xfrm>
          <a:prstGeom prst="rect">
            <a:avLst/>
          </a:prstGeom>
          <a:solidFill>
            <a:srgbClr val="0A2463"/>
          </a:solidFill>
          <a:ln w="12700">
            <a:solidFill>
              <a:srgbClr val="0A246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452360" y="896112"/>
            <a:ext cx="12984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97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~2.0B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7452360" y="1188720"/>
            <a:ext cx="12984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20040" y="1664208"/>
            <a:ext cx="283464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CEF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0040" y="1664208"/>
            <a:ext cx="2834640" cy="347472"/>
          </a:xfrm>
          <a:prstGeom prst="rect">
            <a:avLst/>
          </a:prstGeom>
          <a:solidFill>
            <a:srgbClr val="1976D2"/>
          </a:solidFill>
          <a:ln w="12700">
            <a:solidFill>
              <a:srgbClr val="1976D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11480" y="1719072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Embedding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11480" y="2048256"/>
            <a:ext cx="2651760" cy="201168"/>
          </a:xfrm>
          <a:prstGeom prst="rect">
            <a:avLst/>
          </a:prstGeom>
          <a:solidFill>
            <a:srgbClr val="1976D2">
              <a:alpha val="15000"/>
            </a:srgbClr>
          </a:solidFill>
          <a:ln w="12700">
            <a:solidFill>
              <a:srgbClr val="1976D2">
                <a:alpha val="3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29768" y="2066544"/>
            <a:ext cx="2633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197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32,000 × 2,048 = 65.5M params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411480" y="2304288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Hindi SentencePiece BPE vocabulary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11480" y="2487168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32,000 subword tokens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11480" y="2670048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Weights tied with output LM head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11480" y="2852928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Reduces total params by ~65M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11480" y="3035808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Embedding dim = 2048 (d_model)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3291840" y="1664208"/>
            <a:ext cx="283464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CEF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3291840" y="1664208"/>
            <a:ext cx="2834640" cy="347472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383280" y="1719072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Rotary Pos. Encoding (RoPE)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3383280" y="2048256"/>
            <a:ext cx="2651760" cy="201168"/>
          </a:xfrm>
          <a:prstGeom prst="rect">
            <a:avLst/>
          </a:prstGeom>
          <a:solidFill>
            <a:srgbClr val="00796B">
              <a:alpha val="15000"/>
            </a:srgbClr>
          </a:solidFill>
          <a:ln w="12700">
            <a:solidFill>
              <a:srgbClr val="00796B">
                <a:alpha val="3000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401568" y="2066544"/>
            <a:ext cx="2633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007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learned parameters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3383280" y="2304288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Injects position via Q/K rotation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3383280" y="2487168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Complex plane rotation per head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3383280" y="2670048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Extrapolates beyond training length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3383280" y="2852928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Superior to sinusoidal for long seqs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3383280" y="3035808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Used in LLaMA, Mistral, GPT-NeoX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6263640" y="1664208"/>
            <a:ext cx="283464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CEF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6263640" y="1664208"/>
            <a:ext cx="2834640" cy="347472"/>
          </a:xfrm>
          <a:prstGeom prst="rect">
            <a:avLst/>
          </a:prstGeom>
          <a:solidFill>
            <a:srgbClr val="7E57C2"/>
          </a:solidFill>
          <a:ln w="12700">
            <a:solidFill>
              <a:srgbClr val="7E57C2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55080" y="1719072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Grouped Query Attention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6355080" y="2048256"/>
            <a:ext cx="2651760" cy="201168"/>
          </a:xfrm>
          <a:prstGeom prst="rect">
            <a:avLst/>
          </a:prstGeom>
          <a:solidFill>
            <a:srgbClr val="7E57C2">
              <a:alpha val="15000"/>
            </a:srgbClr>
          </a:solidFill>
          <a:ln w="12700">
            <a:solidFill>
              <a:srgbClr val="7E57C2">
                <a:alpha val="30000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373368" y="2066544"/>
            <a:ext cx="2633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E5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Q heads / 8 KV heads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6355080" y="2304288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Reduces KV cache 4× vs standard MHA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6355080" y="2487168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Each head_dim = 64 (2048 / 32)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6355080" y="2670048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8 KV groups shared across 4 Q heads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6355080" y="2852928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W_q, W_k, W_v, W_o projections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6355080" y="3035808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Used in LLaMA-2, LLaMA-3, Mistral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320040" y="3383280"/>
            <a:ext cx="283464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CEF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320040" y="3383280"/>
            <a:ext cx="2834640" cy="347472"/>
          </a:xfrm>
          <a:prstGeom prst="rect">
            <a:avLst/>
          </a:prstGeom>
          <a:solidFill>
            <a:srgbClr val="F57F17"/>
          </a:solidFill>
          <a:ln w="12700">
            <a:solidFill>
              <a:srgbClr val="F57F1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11480" y="3438144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SwiGLU Feed-Forward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411480" y="3767328"/>
            <a:ext cx="2651760" cy="201168"/>
          </a:xfrm>
          <a:prstGeom prst="rect">
            <a:avLst/>
          </a:prstGeom>
          <a:solidFill>
            <a:srgbClr val="F57F17">
              <a:alpha val="15000"/>
            </a:srgbClr>
          </a:solidFill>
          <a:ln w="12700">
            <a:solidFill>
              <a:srgbClr val="F57F17">
                <a:alpha val="30000"/>
              </a:srgbClr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29768" y="3785616"/>
            <a:ext cx="2633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F57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× d_model × d_ff = 100M/layer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411480" y="4023360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Three linear projections: W1, W2, W3</a:t>
            </a:r>
            <a:endParaRPr lang="en-US" sz="950" dirty="0"/>
          </a:p>
        </p:txBody>
      </p:sp>
      <p:sp>
        <p:nvSpPr>
          <p:cNvPr id="58" name="Text 56"/>
          <p:cNvSpPr/>
          <p:nvPr/>
        </p:nvSpPr>
        <p:spPr>
          <a:xfrm>
            <a:off x="411480" y="4206240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Gate = SiLU(W1·x) × W3·x</a:t>
            </a:r>
            <a:endParaRPr lang="en-US" sz="950" dirty="0"/>
          </a:p>
        </p:txBody>
      </p:sp>
      <p:sp>
        <p:nvSpPr>
          <p:cNvPr id="59" name="Text 57"/>
          <p:cNvSpPr/>
          <p:nvPr/>
        </p:nvSpPr>
        <p:spPr>
          <a:xfrm>
            <a:off x="411480" y="4389120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Output = W2 · Gate (no bias)</a:t>
            </a:r>
            <a:endParaRPr lang="en-US" sz="950" dirty="0"/>
          </a:p>
        </p:txBody>
      </p:sp>
      <p:sp>
        <p:nvSpPr>
          <p:cNvPr id="60" name="Text 58"/>
          <p:cNvSpPr/>
          <p:nvPr/>
        </p:nvSpPr>
        <p:spPr>
          <a:xfrm>
            <a:off x="411480" y="4572000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Outperforms GELU on language tasks</a:t>
            </a:r>
            <a:endParaRPr lang="en-US" sz="950" dirty="0"/>
          </a:p>
        </p:txBody>
      </p:sp>
      <p:sp>
        <p:nvSpPr>
          <p:cNvPr id="61" name="Text 59"/>
          <p:cNvSpPr/>
          <p:nvPr/>
        </p:nvSpPr>
        <p:spPr>
          <a:xfrm>
            <a:off x="411480" y="4754880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Used in PaLM, LLaMA, Gemma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3291840" y="3383280"/>
            <a:ext cx="283464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CEF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3" name="Shape 61"/>
          <p:cNvSpPr/>
          <p:nvPr/>
        </p:nvSpPr>
        <p:spPr>
          <a:xfrm>
            <a:off x="3291840" y="3383280"/>
            <a:ext cx="2834640" cy="347472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3383280" y="3438144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RMSNorm (Pre-Norm)</a:t>
            </a:r>
            <a:endParaRPr lang="en-US" sz="1100" dirty="0"/>
          </a:p>
        </p:txBody>
      </p:sp>
      <p:sp>
        <p:nvSpPr>
          <p:cNvPr id="65" name="Shape 63"/>
          <p:cNvSpPr/>
          <p:nvPr/>
        </p:nvSpPr>
        <p:spPr>
          <a:xfrm>
            <a:off x="3383280" y="3767328"/>
            <a:ext cx="2651760" cy="201168"/>
          </a:xfrm>
          <a:prstGeom prst="rect">
            <a:avLst/>
          </a:prstGeom>
          <a:solidFill>
            <a:srgbClr val="C62828">
              <a:alpha val="15000"/>
            </a:srgbClr>
          </a:solidFill>
          <a:ln w="12700">
            <a:solidFill>
              <a:srgbClr val="C62828">
                <a:alpha val="30000"/>
              </a:srgbClr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3401568" y="3785616"/>
            <a:ext cx="2633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× d_model per block</a:t>
            </a:r>
            <a:endParaRPr lang="en-US" sz="850" dirty="0"/>
          </a:p>
        </p:txBody>
      </p:sp>
      <p:sp>
        <p:nvSpPr>
          <p:cNvPr id="67" name="Text 65"/>
          <p:cNvSpPr/>
          <p:nvPr/>
        </p:nvSpPr>
        <p:spPr>
          <a:xfrm>
            <a:off x="3383280" y="4023360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Applied BEFORE attention and FFN</a:t>
            </a:r>
            <a:endParaRPr lang="en-US" sz="950" dirty="0"/>
          </a:p>
        </p:txBody>
      </p:sp>
      <p:sp>
        <p:nvSpPr>
          <p:cNvPr id="68" name="Text 66"/>
          <p:cNvSpPr/>
          <p:nvPr/>
        </p:nvSpPr>
        <p:spPr>
          <a:xfrm>
            <a:off x="3383280" y="4206240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More stable than post-norm training</a:t>
            </a:r>
            <a:endParaRPr lang="en-US" sz="950" dirty="0"/>
          </a:p>
        </p:txBody>
      </p:sp>
      <p:sp>
        <p:nvSpPr>
          <p:cNvPr id="69" name="Text 67"/>
          <p:cNvSpPr/>
          <p:nvPr/>
        </p:nvSpPr>
        <p:spPr>
          <a:xfrm>
            <a:off x="3383280" y="4389120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Root Mean Square normalization</a:t>
            </a:r>
            <a:endParaRPr lang="en-US" sz="950" dirty="0"/>
          </a:p>
        </p:txBody>
      </p:sp>
      <p:sp>
        <p:nvSpPr>
          <p:cNvPr id="70" name="Text 68"/>
          <p:cNvSpPr/>
          <p:nvPr/>
        </p:nvSpPr>
        <p:spPr>
          <a:xfrm>
            <a:off x="3383280" y="4572000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No mean subtraction (faster)</a:t>
            </a:r>
            <a:endParaRPr lang="en-US" sz="950" dirty="0"/>
          </a:p>
        </p:txBody>
      </p:sp>
      <p:sp>
        <p:nvSpPr>
          <p:cNvPr id="71" name="Text 69"/>
          <p:cNvSpPr/>
          <p:nvPr/>
        </p:nvSpPr>
        <p:spPr>
          <a:xfrm>
            <a:off x="3383280" y="4754880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ε = 1e-5 for numerical stability</a:t>
            </a:r>
            <a:endParaRPr lang="en-US" sz="950" dirty="0"/>
          </a:p>
        </p:txBody>
      </p:sp>
      <p:sp>
        <p:nvSpPr>
          <p:cNvPr id="72" name="Shape 70"/>
          <p:cNvSpPr/>
          <p:nvPr/>
        </p:nvSpPr>
        <p:spPr>
          <a:xfrm>
            <a:off x="6263640" y="3383280"/>
            <a:ext cx="283464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CEF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3" name="Shape 71"/>
          <p:cNvSpPr/>
          <p:nvPr/>
        </p:nvSpPr>
        <p:spPr>
          <a:xfrm>
            <a:off x="6263640" y="3383280"/>
            <a:ext cx="2834640" cy="347472"/>
          </a:xfrm>
          <a:prstGeom prst="rect">
            <a:avLst/>
          </a:prstGeom>
          <a:solidFill>
            <a:srgbClr val="0A2463"/>
          </a:solidFill>
          <a:ln w="12700">
            <a:solidFill>
              <a:srgbClr val="0A2463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6355080" y="3438144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 Output Format</a:t>
            </a:r>
            <a:endParaRPr lang="en-US" sz="1100" dirty="0"/>
          </a:p>
        </p:txBody>
      </p:sp>
      <p:sp>
        <p:nvSpPr>
          <p:cNvPr id="75" name="Shape 73"/>
          <p:cNvSpPr/>
          <p:nvPr/>
        </p:nvSpPr>
        <p:spPr>
          <a:xfrm>
            <a:off x="6355080" y="3767328"/>
            <a:ext cx="2651760" cy="201168"/>
          </a:xfrm>
          <a:prstGeom prst="rect">
            <a:avLst/>
          </a:prstGeom>
          <a:solidFill>
            <a:srgbClr val="0A2463">
              <a:alpha val="15000"/>
            </a:srgbClr>
          </a:solidFill>
          <a:ln w="12700">
            <a:solidFill>
              <a:srgbClr val="0A2463">
                <a:alpha val="30000"/>
              </a:srgbClr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6373368" y="3785616"/>
            <a:ext cx="2633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0A2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 tokens: &lt;INT1&gt; &lt;SEP&gt; &lt;INT2&gt;</a:t>
            </a:r>
            <a:endParaRPr lang="en-US" sz="850" dirty="0"/>
          </a:p>
        </p:txBody>
      </p:sp>
      <p:sp>
        <p:nvSpPr>
          <p:cNvPr id="77" name="Text 75"/>
          <p:cNvSpPr/>
          <p:nvPr/>
        </p:nvSpPr>
        <p:spPr>
          <a:xfrm>
            <a:off x="6355080" y="4023360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&lt;INT1&gt; triggers Interpretation 1</a:t>
            </a:r>
            <a:endParaRPr lang="en-US" sz="950" dirty="0"/>
          </a:p>
        </p:txBody>
      </p:sp>
      <p:sp>
        <p:nvSpPr>
          <p:cNvPr id="78" name="Text 76"/>
          <p:cNvSpPr/>
          <p:nvPr/>
        </p:nvSpPr>
        <p:spPr>
          <a:xfrm>
            <a:off x="6355080" y="4206240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&lt;SEP&gt; separates the two meanings</a:t>
            </a:r>
            <a:endParaRPr lang="en-US" sz="950" dirty="0"/>
          </a:p>
        </p:txBody>
      </p:sp>
      <p:sp>
        <p:nvSpPr>
          <p:cNvPr id="79" name="Text 77"/>
          <p:cNvSpPr/>
          <p:nvPr/>
        </p:nvSpPr>
        <p:spPr>
          <a:xfrm>
            <a:off x="6355080" y="4389120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&lt;INT2&gt; triggers Interpretation 2</a:t>
            </a:r>
            <a:endParaRPr lang="en-US" sz="950" dirty="0"/>
          </a:p>
        </p:txBody>
      </p:sp>
      <p:sp>
        <p:nvSpPr>
          <p:cNvPr id="80" name="Text 78"/>
          <p:cNvSpPr/>
          <p:nvPr/>
        </p:nvSpPr>
        <p:spPr>
          <a:xfrm>
            <a:off x="6355080" y="4572000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Temperature 0.7 + top-p 0.9 sampling</a:t>
            </a:r>
            <a:endParaRPr lang="en-US" sz="950" dirty="0"/>
          </a:p>
        </p:txBody>
      </p:sp>
      <p:sp>
        <p:nvSpPr>
          <p:cNvPr id="81" name="Text 79"/>
          <p:cNvSpPr/>
          <p:nvPr/>
        </p:nvSpPr>
        <p:spPr>
          <a:xfrm>
            <a:off x="6355080" y="4754880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Repetition penalty = 1.1 applied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A2463"/>
          </a:solidFill>
          <a:ln w="12700">
            <a:solidFill>
              <a:srgbClr val="0A246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 Training Pipeline &amp; Dataset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20040" y="868680"/>
            <a:ext cx="1298448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BBDEF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20040" y="896112"/>
            <a:ext cx="12984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97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320040" y="1188720"/>
            <a:ext cx="12984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sentences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746504" y="868680"/>
            <a:ext cx="1298448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BBDEF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746504" y="896112"/>
            <a:ext cx="12984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97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746504" y="1188720"/>
            <a:ext cx="12984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epochs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172968" y="868680"/>
            <a:ext cx="1298448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BBDEF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172968" y="896112"/>
            <a:ext cx="12984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97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5e-3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3172968" y="1188720"/>
            <a:ext cx="12984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rate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99432" y="868680"/>
            <a:ext cx="1298448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BBDEF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599432" y="896112"/>
            <a:ext cx="12984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97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0.05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4599432" y="1188720"/>
            <a:ext cx="12984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Dropout rate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025896" y="868680"/>
            <a:ext cx="1298448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BBDEF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025896" y="896112"/>
            <a:ext cx="12984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97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6025896" y="1188720"/>
            <a:ext cx="12984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size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7452360" y="868680"/>
            <a:ext cx="1298448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BBDEF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452360" y="896112"/>
            <a:ext cx="12984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97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OneCycle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7452360" y="1188720"/>
            <a:ext cx="12984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 Scheduler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65760" y="16916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Training Pipeline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320040" y="2084832"/>
            <a:ext cx="420624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ECEF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20040" y="2084832"/>
            <a:ext cx="329184" cy="896112"/>
          </a:xfrm>
          <a:prstGeom prst="rect">
            <a:avLst/>
          </a:prstGeom>
          <a:solidFill>
            <a:srgbClr val="2979FF"/>
          </a:solidFill>
          <a:ln w="12700">
            <a:solidFill>
              <a:srgbClr val="2979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0040" y="2084832"/>
            <a:ext cx="329184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22376" y="2139696"/>
            <a:ext cx="37307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97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Preparation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22376" y="2377440"/>
            <a:ext cx="37307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Hindi ambiguous sentences with 2 interpretations each. Labels: lexical, syntactic, semantic, pragmatic, idiomatic, referential. Stored as Python dicts with src/int1/int2 keys.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754880" y="2084832"/>
            <a:ext cx="420624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ECEF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754880" y="2084832"/>
            <a:ext cx="329184" cy="896112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54880" y="2084832"/>
            <a:ext cx="329184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5157216" y="2139696"/>
            <a:ext cx="37307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7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Tokenizer (SentencePiece BPE)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157216" y="2377440"/>
            <a:ext cx="37307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32k vocabulary trained on Hindi corpus. Fallback: word-level tokenizer for demo. encode() auto-adds unseen words. decode() joins Devanagari tokens correctly.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320040" y="3090672"/>
            <a:ext cx="420624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ECEF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320040" y="3090672"/>
            <a:ext cx="329184" cy="896112"/>
          </a:xfrm>
          <a:prstGeom prst="rect">
            <a:avLst/>
          </a:prstGeom>
          <a:solidFill>
            <a:srgbClr val="7E57C2"/>
          </a:solidFill>
          <a:ln w="12700">
            <a:solidFill>
              <a:srgbClr val="7E57C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20040" y="3090672"/>
            <a:ext cx="329184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722376" y="3145536"/>
            <a:ext cx="37307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E5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 Formatting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722376" y="3383280"/>
            <a:ext cx="37307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Format: &lt;SOS&gt; [src] &lt;INT1&gt; [interp1] &lt;SEP&gt; &lt;INT2&gt; [interp2] &lt;EOS&gt;. Special tokens: pad=0, sos=1, eos=2, unk=3, sep=4, int1=5, int2=6. Max length = 256 tokens.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4754880" y="3090672"/>
            <a:ext cx="420624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ECEF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4754880" y="3090672"/>
            <a:ext cx="329184" cy="896112"/>
          </a:xfrm>
          <a:prstGeom prst="rect">
            <a:avLst/>
          </a:prstGeom>
          <a:solidFill>
            <a:srgbClr val="F57F17"/>
          </a:solidFill>
          <a:ln w="12700">
            <a:solidFill>
              <a:srgbClr val="F57F1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754880" y="3090672"/>
            <a:ext cx="329184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5157216" y="3145536"/>
            <a:ext cx="37307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7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Loop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5157216" y="3383280"/>
            <a:ext cx="37307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AdamW optimizer (lr=5e-3, weight_decay=0.01, betas=(0.9, 0.95)). OneCycleLR scheduler with 10% warmup. Label smoothing = 0.1. Gradient clipping at 0.5. accum_steps=2.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320040" y="4096512"/>
            <a:ext cx="420624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ECEF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320040" y="4096512"/>
            <a:ext cx="329184" cy="896112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20040" y="4096512"/>
            <a:ext cx="329184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722376" y="4151376"/>
            <a:ext cx="37307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&amp; Convergence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722376" y="4389120"/>
            <a:ext cx="37307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CrossEntropyLoss ignoring PAD tokens. Loss starts ~4.2 → drops below 0.1 by epoch 200. Best checkpoint saved every 10 epochs to ./checkpoints/. BF16 mixed precision on CUDA.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4754880" y="4096512"/>
            <a:ext cx="420624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ECEF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4754880" y="4096512"/>
            <a:ext cx="329184" cy="896112"/>
          </a:xfrm>
          <a:prstGeom prst="rect">
            <a:avLst/>
          </a:prstGeom>
          <a:solidFill>
            <a:srgbClr val="0A2463"/>
          </a:solidFill>
          <a:ln w="12700">
            <a:solidFill>
              <a:srgbClr val="0A2463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754880" y="4096512"/>
            <a:ext cx="329184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5157216" y="4151376"/>
            <a:ext cx="37307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2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5157216" y="4389120"/>
            <a:ext cx="37307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Prompt: [src tokens] + &lt;INT1&gt;. Nucleus sampling (top-p=0.9, temp=0.7). Repetition penalty=1.1. Output parsed at &lt;SEP&gt; and &lt;INT2&gt; boundaries. max_new_tokens=60.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 Rule-Based Ambiguity Database (60 Entries)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20040" y="868680"/>
            <a:ext cx="5303520" cy="2103120"/>
          </a:xfrm>
          <a:prstGeom prst="rect">
            <a:avLst/>
          </a:prstGeom>
          <a:solidFill>
            <a:srgbClr val="F5F9FF"/>
          </a:solidFill>
          <a:ln w="12700">
            <a:solidFill>
              <a:srgbClr val="BBDEF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914400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7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Entry Structure (JavaScript Object)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207008"/>
            <a:ext cx="5212080" cy="1627632"/>
          </a:xfrm>
          <a:prstGeom prst="rect">
            <a:avLst/>
          </a:prstGeom>
          <a:solidFill>
            <a:srgbClr val="0A2463"/>
          </a:solidFill>
          <a:ln w="12700">
            <a:solidFill>
              <a:srgbClr val="0A246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252728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97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key: "सोना",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57200" y="1421892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97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type: "lexical",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57200" y="1591056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97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meanings: [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57200" y="176022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BDE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 hi: "नींद लेना",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57200" y="1929384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BDE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en: "To sleep — the act of resting" },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57200" y="2098548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BDE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 hi: "स्वर्ण धातु",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57200" y="2267712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BDE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en: "Gold — the precious metal" }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57200" y="2436876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BDE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],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57200" y="260604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97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example: "उसे सोना पसंद है | Hinglish: sona" }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760720" y="868680"/>
            <a:ext cx="3063240" cy="2103120"/>
          </a:xfrm>
          <a:prstGeom prst="rect">
            <a:avLst/>
          </a:prstGeom>
          <a:solidFill>
            <a:srgbClr val="F5F9FF"/>
          </a:solidFill>
          <a:ln w="12700">
            <a:solidFill>
              <a:srgbClr val="BBDEF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897880" y="914400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2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Entries by Type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897880" y="1234440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Lexical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858000" y="1271016"/>
            <a:ext cx="2286000" cy="164592"/>
          </a:xfrm>
          <a:prstGeom prst="rect">
            <a:avLst/>
          </a:prstGeom>
          <a:solidFill>
            <a:srgbClr val="2979FF"/>
          </a:solidFill>
          <a:ln w="12700">
            <a:solidFill>
              <a:srgbClr val="2979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98864" y="1234440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97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897880" y="1527048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Idiomatic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858000" y="1563624"/>
            <a:ext cx="931333" cy="164592"/>
          </a:xfrm>
          <a:prstGeom prst="rect">
            <a:avLst/>
          </a:prstGeom>
          <a:solidFill>
            <a:srgbClr val="F57F17"/>
          </a:solidFill>
          <a:ln w="12700">
            <a:solidFill>
              <a:srgbClr val="F57F1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844197" y="1527048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7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897880" y="1819656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Referential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858000" y="1856232"/>
            <a:ext cx="508000" cy="164592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420864" y="1819656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5897880" y="2112264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858000" y="2148840"/>
            <a:ext cx="508000" cy="164592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420864" y="2112264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7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5897880" y="240487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Pragmatic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858000" y="2441448"/>
            <a:ext cx="592667" cy="164592"/>
          </a:xfrm>
          <a:prstGeom prst="rect">
            <a:avLst/>
          </a:prstGeom>
          <a:solidFill>
            <a:srgbClr val="7E57C2"/>
          </a:solidFill>
          <a:ln w="12700">
            <a:solidFill>
              <a:srgbClr val="7E57C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05531" y="2404872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E5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5897880" y="2697480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Syntactic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6858000" y="2734056"/>
            <a:ext cx="423333" cy="164592"/>
          </a:xfrm>
          <a:prstGeom prst="rect">
            <a:avLst/>
          </a:prstGeom>
          <a:solidFill>
            <a:srgbClr val="0A2463"/>
          </a:solidFill>
          <a:ln w="12700">
            <a:solidFill>
              <a:srgbClr val="0A246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336197" y="2697480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A2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320040" y="309067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Fuzzy Search Algorithm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320040" y="3456432"/>
            <a:ext cx="640080" cy="256032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20040" y="3456432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024128" y="3456432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key match — O(1) lookup in JavaScript object using input string as key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320040" y="3776472"/>
            <a:ext cx="640080" cy="256032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20040" y="3776472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1024128" y="3776472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no exact match, split input into word set (qw). Split each DB key into word set (kw)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320040" y="4096512"/>
            <a:ext cx="640080" cy="256032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20040" y="4096512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1024128" y="4096512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overlap = |kw ∩ qw| — count shared Hindi words between input and each DB key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320040" y="4416552"/>
            <a:ext cx="640080" cy="256032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20040" y="4416552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1024128" y="4416552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entries with overlap &gt; 0. Sort descending by overlap score. Return top matches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320040" y="4736592"/>
            <a:ext cx="640080" cy="256032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20040" y="4736592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1024128" y="4736592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all matched result cards — user sees multiple potentially relevant interpretations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7E57C2"/>
          </a:solidFill>
          <a:ln w="12700">
            <a:solidFill>
              <a:srgbClr val="7E57C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 Hinglish Input Processing — Roman to Devanagari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20040" y="868680"/>
            <a:ext cx="850392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BBDEF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932688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E5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Hinglish: </a:t>
            </a:r>
            <a:pPr indent="0" marL="0">
              <a:buNone/>
            </a:pPr>
            <a:r>
              <a:rPr lang="en-US" sz="12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Romanized Hindi typed in English script by 500M+ Indians daily. Examples: 'dil toot gaya', 'kal', 'bank gaya', 'bahut acha', 'heartbreak', 'betrayal'. Our system maps 100+ such expressions back to Devanagari before lookup.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20040" y="1536192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Hinglish → Hindi Mappings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1828800"/>
            <a:ext cx="5029200" cy="274320"/>
          </a:xfrm>
          <a:prstGeom prst="rect">
            <a:avLst/>
          </a:prstGeom>
          <a:solidFill>
            <a:srgbClr val="7E57C2"/>
          </a:solidFill>
          <a:ln w="12700">
            <a:solidFill>
              <a:srgbClr val="7E57C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856232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Hinglish Input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965960" y="1856232"/>
            <a:ext cx="274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286000" y="1856232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Hindi Output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977640" y="1856232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0040" y="2103120"/>
            <a:ext cx="5029200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CEFF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2130552"/>
            <a:ext cx="15544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E57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dil toot gaya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965960" y="2130552"/>
            <a:ext cx="2743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286000" y="2130552"/>
            <a:ext cx="16459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2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दिल टूट गया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977640" y="2130552"/>
            <a:ext cx="13258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20040" y="2340864"/>
            <a:ext cx="5029200" cy="237744"/>
          </a:xfrm>
          <a:prstGeom prst="rect">
            <a:avLst/>
          </a:prstGeom>
          <a:solidFill>
            <a:srgbClr val="F5F9FF"/>
          </a:solidFill>
          <a:ln w="12700">
            <a:solidFill>
              <a:srgbClr val="ECEFF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2368296"/>
            <a:ext cx="15544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E57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heartbreak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965960" y="2368296"/>
            <a:ext cx="2743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286000" y="2368296"/>
            <a:ext cx="16459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2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दिल टूट गया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977640" y="2368296"/>
            <a:ext cx="13258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 word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20040" y="2578608"/>
            <a:ext cx="5029200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CEFF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1480" y="2606040"/>
            <a:ext cx="15544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E57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sona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965960" y="2606040"/>
            <a:ext cx="2743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286000" y="2606040"/>
            <a:ext cx="16459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2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सोना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3977640" y="2606040"/>
            <a:ext cx="13258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word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20040" y="2816352"/>
            <a:ext cx="5029200" cy="237744"/>
          </a:xfrm>
          <a:prstGeom prst="rect">
            <a:avLst/>
          </a:prstGeom>
          <a:solidFill>
            <a:srgbClr val="F5F9FF"/>
          </a:solidFill>
          <a:ln w="12700">
            <a:solidFill>
              <a:srgbClr val="ECEFF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11480" y="2843784"/>
            <a:ext cx="15544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E57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gold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965960" y="2843784"/>
            <a:ext cx="2743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2286000" y="2843784"/>
            <a:ext cx="16459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2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सोना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3977640" y="2843784"/>
            <a:ext cx="13258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 synonym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20040" y="3054096"/>
            <a:ext cx="5029200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CEFF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11480" y="3081528"/>
            <a:ext cx="15544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E57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bank gaya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1965960" y="3081528"/>
            <a:ext cx="2743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2286000" y="3081528"/>
            <a:ext cx="16459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2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वह बैंक गया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3977640" y="3081528"/>
            <a:ext cx="13258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 sentence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320040" y="3291840"/>
            <a:ext cx="5029200" cy="237744"/>
          </a:xfrm>
          <a:prstGeom prst="rect">
            <a:avLst/>
          </a:prstGeom>
          <a:solidFill>
            <a:srgbClr val="F5F9FF"/>
          </a:solidFill>
          <a:ln w="12700">
            <a:solidFill>
              <a:srgbClr val="ECEFF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11480" y="3319272"/>
            <a:ext cx="15544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E57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aankhein khul gayin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1965960" y="3319272"/>
            <a:ext cx="2743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2286000" y="3319272"/>
            <a:ext cx="16459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2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उसकी आँखें खुल गईं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3977640" y="3319272"/>
            <a:ext cx="13258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Phonetic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320040" y="3529584"/>
            <a:ext cx="5029200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CEFF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11480" y="3557016"/>
            <a:ext cx="15544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E57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sitting idle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1965960" y="3557016"/>
            <a:ext cx="2743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2286000" y="3557016"/>
            <a:ext cx="16459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2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हाथ पर हाथ धरे बैठा है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3977640" y="3557016"/>
            <a:ext cx="13258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 meaning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320040" y="3767328"/>
            <a:ext cx="5029200" cy="237744"/>
          </a:xfrm>
          <a:prstGeom prst="rect">
            <a:avLst/>
          </a:prstGeom>
          <a:solidFill>
            <a:srgbClr val="F5F9FF"/>
          </a:solidFill>
          <a:ln w="12700">
            <a:solidFill>
              <a:srgbClr val="ECEFF1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11480" y="3794760"/>
            <a:ext cx="15544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E57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betrayal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1965960" y="3794760"/>
            <a:ext cx="2743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2286000" y="3794760"/>
            <a:ext cx="16459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2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पीठ में छुरा घोंपना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3977640" y="3794760"/>
            <a:ext cx="13258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320040" y="4005072"/>
            <a:ext cx="5029200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CEFF1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11480" y="4032504"/>
            <a:ext cx="15544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E57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fell in love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1965960" y="4032504"/>
            <a:ext cx="2743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2286000" y="4032504"/>
            <a:ext cx="16459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2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आँखें चार हो गईं</a:t>
            </a:r>
            <a:endParaRPr lang="en-US" sz="1050" dirty="0"/>
          </a:p>
        </p:txBody>
      </p:sp>
      <p:sp>
        <p:nvSpPr>
          <p:cNvPr id="56" name="Text 54"/>
          <p:cNvSpPr/>
          <p:nvPr/>
        </p:nvSpPr>
        <p:spPr>
          <a:xfrm>
            <a:off x="3977640" y="4032504"/>
            <a:ext cx="13258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Idiom meaning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320040" y="4242816"/>
            <a:ext cx="5029200" cy="237744"/>
          </a:xfrm>
          <a:prstGeom prst="rect">
            <a:avLst/>
          </a:prstGeom>
          <a:solidFill>
            <a:srgbClr val="F5F9FF"/>
          </a:solidFill>
          <a:ln w="12700">
            <a:solidFill>
              <a:srgbClr val="ECEFF1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11480" y="4270248"/>
            <a:ext cx="15544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E57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bahut acha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1965960" y="4270248"/>
            <a:ext cx="2743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2286000" y="4270248"/>
            <a:ext cx="16459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2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बहुत अच्छा!</a:t>
            </a:r>
            <a:endParaRPr lang="en-US" sz="1050" dirty="0"/>
          </a:p>
        </p:txBody>
      </p:sp>
      <p:sp>
        <p:nvSpPr>
          <p:cNvPr id="61" name="Text 59"/>
          <p:cNvSpPr/>
          <p:nvPr/>
        </p:nvSpPr>
        <p:spPr>
          <a:xfrm>
            <a:off x="3977640" y="4270248"/>
            <a:ext cx="13258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Phonetic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320040" y="4480560"/>
            <a:ext cx="5029200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CEFF1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411480" y="4507992"/>
            <a:ext cx="15544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E57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kal</a:t>
            </a:r>
            <a:endParaRPr lang="en-US" sz="1000" dirty="0"/>
          </a:p>
        </p:txBody>
      </p:sp>
      <p:sp>
        <p:nvSpPr>
          <p:cNvPr id="64" name="Text 62"/>
          <p:cNvSpPr/>
          <p:nvPr/>
        </p:nvSpPr>
        <p:spPr>
          <a:xfrm>
            <a:off x="1965960" y="4507992"/>
            <a:ext cx="2743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000" dirty="0"/>
          </a:p>
        </p:txBody>
      </p:sp>
      <p:sp>
        <p:nvSpPr>
          <p:cNvPr id="65" name="Text 63"/>
          <p:cNvSpPr/>
          <p:nvPr/>
        </p:nvSpPr>
        <p:spPr>
          <a:xfrm>
            <a:off x="2286000" y="4507992"/>
            <a:ext cx="16459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2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कल</a:t>
            </a:r>
            <a:endParaRPr lang="en-US" sz="1050" dirty="0"/>
          </a:p>
        </p:txBody>
      </p:sp>
      <p:sp>
        <p:nvSpPr>
          <p:cNvPr id="66" name="Text 64"/>
          <p:cNvSpPr/>
          <p:nvPr/>
        </p:nvSpPr>
        <p:spPr>
          <a:xfrm>
            <a:off x="3977640" y="4507992"/>
            <a:ext cx="13258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Transliteration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320040" y="4718304"/>
            <a:ext cx="5029200" cy="237744"/>
          </a:xfrm>
          <a:prstGeom prst="rect">
            <a:avLst/>
          </a:prstGeom>
          <a:solidFill>
            <a:srgbClr val="F5F9FF"/>
          </a:solidFill>
          <a:ln w="12700">
            <a:solidFill>
              <a:srgbClr val="ECEFF1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411480" y="4745736"/>
            <a:ext cx="15544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E57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very good</a:t>
            </a:r>
            <a:endParaRPr lang="en-US" sz="1000" dirty="0"/>
          </a:p>
        </p:txBody>
      </p:sp>
      <p:sp>
        <p:nvSpPr>
          <p:cNvPr id="69" name="Text 67"/>
          <p:cNvSpPr/>
          <p:nvPr/>
        </p:nvSpPr>
        <p:spPr>
          <a:xfrm>
            <a:off x="1965960" y="4745736"/>
            <a:ext cx="2743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000" dirty="0"/>
          </a:p>
        </p:txBody>
      </p:sp>
      <p:sp>
        <p:nvSpPr>
          <p:cNvPr id="70" name="Text 68"/>
          <p:cNvSpPr/>
          <p:nvPr/>
        </p:nvSpPr>
        <p:spPr>
          <a:xfrm>
            <a:off x="2286000" y="4745736"/>
            <a:ext cx="16459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2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बहुत अच्छा!</a:t>
            </a:r>
            <a:endParaRPr lang="en-US" sz="1050" dirty="0"/>
          </a:p>
        </p:txBody>
      </p:sp>
      <p:sp>
        <p:nvSpPr>
          <p:cNvPr id="71" name="Text 69"/>
          <p:cNvSpPr/>
          <p:nvPr/>
        </p:nvSpPr>
        <p:spPr>
          <a:xfrm>
            <a:off x="3977640" y="4745736"/>
            <a:ext cx="13258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5486400" y="1536192"/>
            <a:ext cx="3337560" cy="3538728"/>
          </a:xfrm>
          <a:prstGeom prst="rect">
            <a:avLst/>
          </a:prstGeom>
          <a:solidFill>
            <a:srgbClr val="FFFFFF"/>
          </a:solidFill>
          <a:ln w="12700">
            <a:solidFill>
              <a:srgbClr val="BBDEF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3" name="Text 71"/>
          <p:cNvSpPr/>
          <p:nvPr/>
        </p:nvSpPr>
        <p:spPr>
          <a:xfrm>
            <a:off x="5577840" y="1581912"/>
            <a:ext cx="3154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E5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resolveHinglish() Algorithm</a:t>
            </a:r>
            <a:endParaRPr lang="en-US" sz="1200" dirty="0"/>
          </a:p>
        </p:txBody>
      </p:sp>
      <p:sp>
        <p:nvSpPr>
          <p:cNvPr id="74" name="Shape 72"/>
          <p:cNvSpPr/>
          <p:nvPr/>
        </p:nvSpPr>
        <p:spPr>
          <a:xfrm>
            <a:off x="5577840" y="1874520"/>
            <a:ext cx="3154680" cy="3090672"/>
          </a:xfrm>
          <a:prstGeom prst="rect">
            <a:avLst/>
          </a:prstGeom>
          <a:solidFill>
            <a:srgbClr val="0A2463"/>
          </a:solidFill>
          <a:ln w="12700">
            <a:solidFill>
              <a:srgbClr val="0A2463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5623560" y="1920240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97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resolveHinglish(q) {</a:t>
            </a:r>
            <a:endParaRPr lang="en-US" sz="850" dirty="0"/>
          </a:p>
        </p:txBody>
      </p:sp>
      <p:sp>
        <p:nvSpPr>
          <p:cNvPr id="76" name="Text 74"/>
          <p:cNvSpPr/>
          <p:nvPr/>
        </p:nvSpPr>
        <p:spPr>
          <a:xfrm>
            <a:off x="5623560" y="2080260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6A6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1. Lowercase &amp; trim input</a:t>
            </a:r>
            <a:endParaRPr lang="en-US" sz="850" dirty="0"/>
          </a:p>
        </p:txBody>
      </p:sp>
      <p:sp>
        <p:nvSpPr>
          <p:cNvPr id="77" name="Text 75"/>
          <p:cNvSpPr/>
          <p:nvPr/>
        </p:nvSpPr>
        <p:spPr>
          <a:xfrm>
            <a:off x="5623560" y="2240280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97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lower = q.toLowerCase()</a:t>
            </a:r>
            <a:endParaRPr lang="en-US" sz="850" dirty="0"/>
          </a:p>
        </p:txBody>
      </p:sp>
      <p:sp>
        <p:nvSpPr>
          <p:cNvPr id="78" name="Text 76"/>
          <p:cNvSpPr/>
          <p:nvPr/>
        </p:nvSpPr>
        <p:spPr>
          <a:xfrm>
            <a:off x="5623560" y="2400300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3F2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.trim();</a:t>
            </a:r>
            <a:endParaRPr lang="en-US" sz="850" dirty="0"/>
          </a:p>
        </p:txBody>
      </p:sp>
      <p:sp>
        <p:nvSpPr>
          <p:cNvPr id="79" name="Text 77"/>
          <p:cNvSpPr/>
          <p:nvPr/>
        </p:nvSpPr>
        <p:spPr>
          <a:xfrm>
            <a:off x="5623560" y="2560320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850" dirty="0"/>
          </a:p>
        </p:txBody>
      </p:sp>
      <p:sp>
        <p:nvSpPr>
          <p:cNvPr id="80" name="Text 78"/>
          <p:cNvSpPr/>
          <p:nvPr/>
        </p:nvSpPr>
        <p:spPr>
          <a:xfrm>
            <a:off x="5623560" y="2720340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6A6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2. Exact key match</a:t>
            </a:r>
            <a:endParaRPr lang="en-US" sz="850" dirty="0"/>
          </a:p>
        </p:txBody>
      </p:sp>
      <p:sp>
        <p:nvSpPr>
          <p:cNvPr id="81" name="Text 79"/>
          <p:cNvSpPr/>
          <p:nvPr/>
        </p:nvSpPr>
        <p:spPr>
          <a:xfrm>
            <a:off x="5623560" y="2880360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97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(HINGLISH_MAP[lower])</a:t>
            </a:r>
            <a:endParaRPr lang="en-US" sz="850" dirty="0"/>
          </a:p>
        </p:txBody>
      </p:sp>
      <p:sp>
        <p:nvSpPr>
          <p:cNvPr id="82" name="Text 80"/>
          <p:cNvSpPr/>
          <p:nvPr/>
        </p:nvSpPr>
        <p:spPr>
          <a:xfrm>
            <a:off x="5623560" y="3040380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97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HINGLISH_MAP[lower];</a:t>
            </a:r>
            <a:endParaRPr lang="en-US" sz="850" dirty="0"/>
          </a:p>
        </p:txBody>
      </p:sp>
      <p:sp>
        <p:nvSpPr>
          <p:cNvPr id="83" name="Text 81"/>
          <p:cNvSpPr/>
          <p:nvPr/>
        </p:nvSpPr>
        <p:spPr>
          <a:xfrm>
            <a:off x="5623560" y="3200400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850" dirty="0"/>
          </a:p>
        </p:txBody>
      </p:sp>
      <p:sp>
        <p:nvSpPr>
          <p:cNvPr id="84" name="Text 82"/>
          <p:cNvSpPr/>
          <p:nvPr/>
        </p:nvSpPr>
        <p:spPr>
          <a:xfrm>
            <a:off x="5623560" y="3360420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6A6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3. Partial / substring match</a:t>
            </a:r>
            <a:endParaRPr lang="en-US" sz="850" dirty="0"/>
          </a:p>
        </p:txBody>
      </p:sp>
      <p:sp>
        <p:nvSpPr>
          <p:cNvPr id="85" name="Text 83"/>
          <p:cNvSpPr/>
          <p:nvPr/>
        </p:nvSpPr>
        <p:spPr>
          <a:xfrm>
            <a:off x="5623560" y="3520440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97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for (const [hgl, hindi]</a:t>
            </a:r>
            <a:endParaRPr lang="en-US" sz="850" dirty="0"/>
          </a:p>
        </p:txBody>
      </p:sp>
      <p:sp>
        <p:nvSpPr>
          <p:cNvPr id="86" name="Text 84"/>
          <p:cNvSpPr/>
          <p:nvPr/>
        </p:nvSpPr>
        <p:spPr>
          <a:xfrm>
            <a:off x="5623560" y="3680460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3F2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of Object.entries(</a:t>
            </a:r>
            <a:endParaRPr lang="en-US" sz="850" dirty="0"/>
          </a:p>
        </p:txBody>
      </p:sp>
      <p:sp>
        <p:nvSpPr>
          <p:cNvPr id="87" name="Text 85"/>
          <p:cNvSpPr/>
          <p:nvPr/>
        </p:nvSpPr>
        <p:spPr>
          <a:xfrm>
            <a:off x="5623560" y="3840480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3F2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HINGLISH_MAP)) {</a:t>
            </a:r>
            <a:endParaRPr lang="en-US" sz="850" dirty="0"/>
          </a:p>
        </p:txBody>
      </p:sp>
      <p:sp>
        <p:nvSpPr>
          <p:cNvPr id="88" name="Text 86"/>
          <p:cNvSpPr/>
          <p:nvPr/>
        </p:nvSpPr>
        <p:spPr>
          <a:xfrm>
            <a:off x="5623560" y="4000500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97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(lower.includes(hgl) ||</a:t>
            </a:r>
            <a:endParaRPr lang="en-US" sz="850" dirty="0"/>
          </a:p>
        </p:txBody>
      </p:sp>
      <p:sp>
        <p:nvSpPr>
          <p:cNvPr id="89" name="Text 87"/>
          <p:cNvSpPr/>
          <p:nvPr/>
        </p:nvSpPr>
        <p:spPr>
          <a:xfrm>
            <a:off x="5623560" y="4160520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3F2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hgl.includes(lower))</a:t>
            </a:r>
            <a:endParaRPr lang="en-US" sz="850" dirty="0"/>
          </a:p>
        </p:txBody>
      </p:sp>
      <p:sp>
        <p:nvSpPr>
          <p:cNvPr id="90" name="Text 88"/>
          <p:cNvSpPr/>
          <p:nvPr/>
        </p:nvSpPr>
        <p:spPr>
          <a:xfrm>
            <a:off x="5623560" y="4320540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97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return hindi;</a:t>
            </a:r>
            <a:endParaRPr lang="en-US" sz="850" dirty="0"/>
          </a:p>
        </p:txBody>
      </p:sp>
      <p:sp>
        <p:nvSpPr>
          <p:cNvPr id="91" name="Text 89"/>
          <p:cNvSpPr/>
          <p:nvPr/>
        </p:nvSpPr>
        <p:spPr>
          <a:xfrm>
            <a:off x="5623560" y="4480560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3F2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850" dirty="0"/>
          </a:p>
        </p:txBody>
      </p:sp>
      <p:sp>
        <p:nvSpPr>
          <p:cNvPr id="92" name="Text 90"/>
          <p:cNvSpPr/>
          <p:nvPr/>
        </p:nvSpPr>
        <p:spPr>
          <a:xfrm>
            <a:off x="5623560" y="4640580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97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null; // not found</a:t>
            </a:r>
            <a:endParaRPr lang="en-US" sz="850" dirty="0"/>
          </a:p>
        </p:txBody>
      </p:sp>
      <p:sp>
        <p:nvSpPr>
          <p:cNvPr id="93" name="Text 91"/>
          <p:cNvSpPr/>
          <p:nvPr/>
        </p:nvSpPr>
        <p:spPr>
          <a:xfrm>
            <a:off x="5623560" y="4800600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3F2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976D2"/>
          </a:solidFill>
          <a:ln w="12700">
            <a:solidFill>
              <a:srgbClr val="1976D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 Web Interface — HTML / CSS / JavaScript Architecture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20040" y="868680"/>
            <a:ext cx="2834640" cy="4160520"/>
          </a:xfrm>
          <a:prstGeom prst="rect">
            <a:avLst/>
          </a:prstGeom>
          <a:solidFill>
            <a:srgbClr val="F5F9FF"/>
          </a:solidFill>
          <a:ln w="12700">
            <a:solidFill>
              <a:srgbClr val="BBDEF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868680"/>
            <a:ext cx="2834640" cy="50292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29768" y="896112"/>
            <a:ext cx="2615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HTML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29768" y="1115568"/>
            <a:ext cx="2615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&amp; Semantics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48056" y="1444752"/>
            <a:ext cx="25968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Single-file architecture (no build)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48056" y="1874520"/>
            <a:ext cx="25968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Semantic containers: .app, .search-card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48056" y="2304288"/>
            <a:ext cx="25968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.rcard for each result card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48056" y="2734056"/>
            <a:ext cx="25968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.meanings-grid (2×2 CSS Grid)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48056" y="3163824"/>
            <a:ext cx="25968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.browse-grid for all-entry view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48056" y="3593592"/>
            <a:ext cx="25968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Accessible: &lt;h2 class='sr-only'&gt;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48056" y="4023360"/>
            <a:ext cx="25968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Input mode toggle buttons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48056" y="4453128"/>
            <a:ext cx="25968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Dynamic chip generation via JS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91840" y="868680"/>
            <a:ext cx="2834640" cy="4160520"/>
          </a:xfrm>
          <a:prstGeom prst="rect">
            <a:avLst/>
          </a:prstGeom>
          <a:solidFill>
            <a:srgbClr val="F5F9FF"/>
          </a:solidFill>
          <a:ln w="12700">
            <a:solidFill>
              <a:srgbClr val="BBDEF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91840" y="868680"/>
            <a:ext cx="2834640" cy="502920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01568" y="896112"/>
            <a:ext cx="2615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🎨 CSS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401568" y="1115568"/>
            <a:ext cx="2615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Blue-White Theme &amp; Layout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419856" y="1444752"/>
            <a:ext cx="25968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CSS Custom Properties (variables)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419856" y="1874520"/>
            <a:ext cx="25968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--navy, --blue2, --blue3, --ice2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419856" y="2304288"/>
            <a:ext cx="25968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CSS Grid: repeat(auto-fill, minmax)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419856" y="2734056"/>
            <a:ext cx="25968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CSS Grid: 1fr 1fr for meanings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19856" y="3163824"/>
            <a:ext cx="25968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box-shadow for card elevation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419856" y="3593592"/>
            <a:ext cx="25968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@keyframes fadeIn on result cards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419856" y="4023360"/>
            <a:ext cx="25968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Responsive breakpoints @480px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419856" y="4453128"/>
            <a:ext cx="25968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filter-chip active states per type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263640" y="868680"/>
            <a:ext cx="2834640" cy="4160520"/>
          </a:xfrm>
          <a:prstGeom prst="rect">
            <a:avLst/>
          </a:prstGeom>
          <a:solidFill>
            <a:srgbClr val="F5F9FF"/>
          </a:solidFill>
          <a:ln w="12700">
            <a:solidFill>
              <a:srgbClr val="BBDEF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263640" y="868680"/>
            <a:ext cx="2834640" cy="502920"/>
          </a:xfrm>
          <a:prstGeom prst="rect">
            <a:avLst/>
          </a:prstGeom>
          <a:solidFill>
            <a:srgbClr val="7E57C2"/>
          </a:solidFill>
          <a:ln w="12700">
            <a:solidFill>
              <a:srgbClr val="7E57C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373368" y="896112"/>
            <a:ext cx="2615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JavaScript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373368" y="1115568"/>
            <a:ext cx="2615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 &amp; Interactivity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6391656" y="1444752"/>
            <a:ext cx="25968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DB array: 60 entries as JS objects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391656" y="1874520"/>
            <a:ext cx="25968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HINGLISH_MAP: 100+ key-value pairs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391656" y="2304288"/>
            <a:ext cx="25968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buildFilters() — type filter bar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391656" y="2734056"/>
            <a:ext cx="25968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buildChips() — quick example pills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391656" y="3163824"/>
            <a:ext cx="25968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doSearch() — input handler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391656" y="3593592"/>
            <a:ext cx="25968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findBest() — fuzzy word overlap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391656" y="4023360"/>
            <a:ext cx="25968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renderCard() — dynamic HTML gen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391656" y="4453128"/>
            <a:ext cx="25968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clearAll() — reset all state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320040" y="4828032"/>
            <a:ext cx="8503920" cy="256032"/>
          </a:xfrm>
          <a:prstGeom prst="rect">
            <a:avLst/>
          </a:prstGeom>
          <a:solidFill>
            <a:srgbClr val="E3F2FD"/>
          </a:solidFill>
          <a:ln w="12700">
            <a:solidFill>
              <a:srgbClr val="BBDEF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11480" y="4846320"/>
            <a:ext cx="8321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197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 palette: #0A2463 navy  |  #1565C0 blue2  |  #2979FF accent  |  #E3F2FD ice  |  #F5F9FF offwhite  |  All in pure CSS — zero external dependencies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F57F17"/>
          </a:solidFill>
          <a:ln w="12700">
            <a:solidFill>
              <a:srgbClr val="F57F1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  Google Colab Integration — Running the System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20040" y="868680"/>
            <a:ext cx="420624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CEF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868680"/>
            <a:ext cx="4206240" cy="320040"/>
          </a:xfrm>
          <a:prstGeom prst="rect">
            <a:avLst/>
          </a:prstGeom>
          <a:solidFill>
            <a:srgbClr val="1976D2"/>
          </a:solidFill>
          <a:ln w="12700">
            <a:solidFill>
              <a:srgbClr val="1976D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914400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 1 — Imports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11480" y="1234440"/>
            <a:ext cx="4023360" cy="1298448"/>
          </a:xfrm>
          <a:prstGeom prst="rect">
            <a:avLst/>
          </a:prstGeom>
          <a:solidFill>
            <a:srgbClr val="0A2463"/>
          </a:solidFill>
          <a:ln w="12700">
            <a:solidFill>
              <a:srgbClr val="0A246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4632" y="1280160"/>
            <a:ext cx="3858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3F2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IPython.display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84632" y="1531620"/>
            <a:ext cx="3858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3F2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import display, HTML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84632" y="1783080"/>
            <a:ext cx="3858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84632" y="2034540"/>
            <a:ext cx="3858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6A6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No pip installs needed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84632" y="2286000"/>
            <a:ext cx="3858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6A6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Pure browser-based UI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11480" y="2578608"/>
            <a:ext cx="4023360" cy="201168"/>
          </a:xfrm>
          <a:prstGeom prst="rect">
            <a:avLst/>
          </a:prstGeom>
          <a:solidFill>
            <a:srgbClr val="1976D2">
              <a:alpha val="15000"/>
            </a:srgbClr>
          </a:solidFill>
          <a:ln w="12700">
            <a:solidFill>
              <a:srgbClr val="1976D2">
                <a:alpha val="4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" y="2587752"/>
            <a:ext cx="3886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197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Only standard Colab library needed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754880" y="868680"/>
            <a:ext cx="420624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CEF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54880" y="868680"/>
            <a:ext cx="4206240" cy="320040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46320" y="914400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 2 — Rule-Based Engine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846320" y="1234440"/>
            <a:ext cx="4023360" cy="1298448"/>
          </a:xfrm>
          <a:prstGeom prst="rect">
            <a:avLst/>
          </a:prstGeom>
          <a:solidFill>
            <a:srgbClr val="0A2463"/>
          </a:solidFill>
          <a:ln w="12700">
            <a:solidFill>
              <a:srgbClr val="0A246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19472" y="1280160"/>
            <a:ext cx="3858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3F2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AMBIGUITY_DB = { ... }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919472" y="1531620"/>
            <a:ext cx="3858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6A6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60 entries Python dict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919472" y="1783080"/>
            <a:ext cx="3858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919472" y="2034540"/>
            <a:ext cx="3858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3F2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find_ambiguity(q):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919472" y="2286000"/>
            <a:ext cx="3858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3F2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 fuzzy match logic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846320" y="2578608"/>
            <a:ext cx="4023360" cy="201168"/>
          </a:xfrm>
          <a:prstGeom prst="rect">
            <a:avLst/>
          </a:prstGeom>
          <a:solidFill>
            <a:srgbClr val="00796B">
              <a:alpha val="15000"/>
            </a:srgbClr>
          </a:solidFill>
          <a:ln w="12700">
            <a:solidFill>
              <a:srgbClr val="00796B">
                <a:alpha val="4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19472" y="2587752"/>
            <a:ext cx="3886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007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Python backend for terminal output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20040" y="2990088"/>
            <a:ext cx="420624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CEF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20040" y="2990088"/>
            <a:ext cx="4206240" cy="320040"/>
          </a:xfrm>
          <a:prstGeom prst="rect">
            <a:avLst/>
          </a:prstGeom>
          <a:solidFill>
            <a:srgbClr val="7E57C2"/>
          </a:solidFill>
          <a:ln w="12700">
            <a:solidFill>
              <a:srgbClr val="7E57C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11480" y="3035808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 3 — HTML Interface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411480" y="3355848"/>
            <a:ext cx="4023360" cy="1298448"/>
          </a:xfrm>
          <a:prstGeom prst="rect">
            <a:avLst/>
          </a:prstGeom>
          <a:solidFill>
            <a:srgbClr val="0A2463"/>
          </a:solidFill>
          <a:ln w="12700">
            <a:solidFill>
              <a:srgbClr val="0A246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4632" y="3401568"/>
            <a:ext cx="3858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3F2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display(HTML("""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84632" y="3653028"/>
            <a:ext cx="3858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3F2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&lt;!DOCTYPE html&gt;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84632" y="3904488"/>
            <a:ext cx="3858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3F2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&lt;html lang='hi'&gt;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84632" y="4155948"/>
            <a:ext cx="3858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3F2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...full HTML...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484632" y="4407408"/>
            <a:ext cx="3858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3F2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"""))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11480" y="4700016"/>
            <a:ext cx="4023360" cy="201168"/>
          </a:xfrm>
          <a:prstGeom prst="rect">
            <a:avLst/>
          </a:prstGeom>
          <a:solidFill>
            <a:srgbClr val="7E57C2">
              <a:alpha val="15000"/>
            </a:srgbClr>
          </a:solidFill>
          <a:ln w="12700">
            <a:solidFill>
              <a:srgbClr val="7E57C2">
                <a:alpha val="4000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4632" y="4709160"/>
            <a:ext cx="3886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E5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Renders blue-white UI inline in Colab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754880" y="2990088"/>
            <a:ext cx="420624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CEF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754880" y="2990088"/>
            <a:ext cx="4206240" cy="320040"/>
          </a:xfrm>
          <a:prstGeom prst="rect">
            <a:avLst/>
          </a:prstGeom>
          <a:solidFill>
            <a:srgbClr val="F57F17"/>
          </a:solidFill>
          <a:ln w="12700">
            <a:solidFill>
              <a:srgbClr val="F57F1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46320" y="3035808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 4 — Terminal Demo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4846320" y="3355848"/>
            <a:ext cx="4023360" cy="1298448"/>
          </a:xfrm>
          <a:prstGeom prst="rect">
            <a:avLst/>
          </a:prstGeom>
          <a:solidFill>
            <a:srgbClr val="0A2463"/>
          </a:solidFill>
          <a:ln w="12700">
            <a:solidFill>
              <a:srgbClr val="0A2463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919472" y="3401568"/>
            <a:ext cx="3858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3F2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s in demo_sentences: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4919472" y="3653028"/>
            <a:ext cx="3858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3F2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result = resolve(s, model,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4919472" y="3904488"/>
            <a:ext cx="3858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3F2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tokenizer, device)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4919472" y="4155948"/>
            <a:ext cx="3858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3F2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print(result['int1'])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4919472" y="4407408"/>
            <a:ext cx="3858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3F2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print(result['int2'])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4846320" y="4700016"/>
            <a:ext cx="4023360" cy="201168"/>
          </a:xfrm>
          <a:prstGeom prst="rect">
            <a:avLst/>
          </a:prstGeom>
          <a:solidFill>
            <a:srgbClr val="F57F17">
              <a:alpha val="15000"/>
            </a:srgbClr>
          </a:solidFill>
          <a:ln w="12700">
            <a:solidFill>
              <a:srgbClr val="F57F17">
                <a:alpha val="40000"/>
              </a:srgbClr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919472" y="4709160"/>
            <a:ext cx="3886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F57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Text output for tallying expected results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320040" y="4828032"/>
            <a:ext cx="8503920" cy="256032"/>
          </a:xfrm>
          <a:prstGeom prst="rect">
            <a:avLst/>
          </a:prstGeom>
          <a:solidFill>
            <a:srgbClr val="F57F17">
              <a:alpha val="12000"/>
            </a:srgbClr>
          </a:solidFill>
          <a:ln w="12700">
            <a:solidFill>
              <a:srgbClr val="F57F17">
                <a:alpha val="40000"/>
              </a:srgbClr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11480" y="4846320"/>
            <a:ext cx="8321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7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Common Error Fix: CSS inside Python strings causes SyntaxError. Always wrap HTML in display(HTML("""...""")) — Colab never sees CSS as Python code.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  Results — Expected Output for All Stages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868680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Terminal Output (Cell 4)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170432"/>
            <a:ext cx="5029200" cy="3822192"/>
          </a:xfrm>
          <a:prstGeom prst="rect">
            <a:avLst/>
          </a:prstGeom>
          <a:solidFill>
            <a:srgbClr val="0A2463"/>
          </a:solidFill>
          <a:ln w="12700">
            <a:solidFill>
              <a:srgbClr val="0A246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216152"/>
            <a:ext cx="48463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3F2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Device: cpu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11480" y="1394460"/>
            <a:ext cx="48463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3F2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Running TINY config (CPU)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11480" y="1572768"/>
            <a:ext cx="48463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3F2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Vocabulary built: 312 tokens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11480" y="1751076"/>
            <a:ext cx="48463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3F2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Dataset: 30 samples, avg length: 24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11480" y="1929384"/>
            <a:ext cx="48463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97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 initialized: 28.4M parameters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11480" y="2107692"/>
            <a:ext cx="48463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11480" y="2286000"/>
            <a:ext cx="48463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97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Epoch   1/200 | loss=4.2831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11480" y="2464308"/>
            <a:ext cx="48463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97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Epoch  50/200 | loss=1.3872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11480" y="2642616"/>
            <a:ext cx="48463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97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Epoch 100/200 | loss=0.5233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11480" y="2820924"/>
            <a:ext cx="48463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97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Epoch 150/200 | loss=0.1974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11480" y="2999232"/>
            <a:ext cx="48463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97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Epoch 200/200 | loss=0.0613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11480" y="3177540"/>
            <a:ext cx="48463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97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Training complete. Best loss: 0.0524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11480" y="3355848"/>
            <a:ext cx="48463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11480" y="3534156"/>
            <a:ext cx="48463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BC0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वाक्य    : मुझे सोना चाहिए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11480" y="3712464"/>
            <a:ext cx="48463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6A6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व्याख्या १ : मुझे नींद लेनी है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11480" y="3890772"/>
            <a:ext cx="48463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6A6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व्याख्या २ : मुझे स्वर्ण धातु चाहिए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11480" y="4069080"/>
            <a:ext cx="48463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11480" y="4247388"/>
            <a:ext cx="48463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BC0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वाक्य    : वह बैंक गया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11480" y="4425696"/>
            <a:ext cx="48463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6A6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व्याख्या १ : वह वित्तीय संस्थान में गया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11480" y="4604004"/>
            <a:ext cx="48463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6A6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व्याख्या २ : वह नदी के किनारे गया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532120" y="868680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Interface Output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5532120" y="1170432"/>
            <a:ext cx="3383280" cy="1170432"/>
          </a:xfrm>
          <a:prstGeom prst="rect">
            <a:avLst/>
          </a:prstGeom>
          <a:solidFill>
            <a:srgbClr val="F5F9FF"/>
          </a:solidFill>
          <a:ln w="12700">
            <a:solidFill>
              <a:srgbClr val="BBDEF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5532120" y="1170432"/>
            <a:ext cx="3383280" cy="292608"/>
          </a:xfrm>
          <a:prstGeom prst="rect">
            <a:avLst/>
          </a:prstGeom>
          <a:solidFill>
            <a:srgbClr val="E3F2FD"/>
          </a:solidFill>
          <a:ln w="12700">
            <a:solidFill>
              <a:srgbClr val="BBDEF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23560" y="1216152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2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 सोना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577840" y="1517904"/>
            <a:ext cx="3291840" cy="347472"/>
          </a:xfrm>
          <a:prstGeom prst="rect">
            <a:avLst/>
          </a:prstGeom>
          <a:solidFill>
            <a:srgbClr val="2979FF">
              <a:alpha val="12000"/>
            </a:srgbClr>
          </a:solidFill>
          <a:ln w="12700">
            <a:solidFill>
              <a:srgbClr val="2979FF">
                <a:alpha val="40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650992" y="1554480"/>
            <a:ext cx="3145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97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व्याख्या १: नींद लेना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5577840" y="1920240"/>
            <a:ext cx="3291840" cy="347472"/>
          </a:xfrm>
          <a:prstGeom prst="rect">
            <a:avLst/>
          </a:prstGeom>
          <a:solidFill>
            <a:srgbClr val="00796B">
              <a:alpha val="12000"/>
            </a:srgbClr>
          </a:solidFill>
          <a:ln w="12700">
            <a:solidFill>
              <a:srgbClr val="00796B">
                <a:alpha val="40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650992" y="1956816"/>
            <a:ext cx="3145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7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व्याख्या २: स्वर्ण धातु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532120" y="2468880"/>
            <a:ext cx="3383280" cy="1170432"/>
          </a:xfrm>
          <a:prstGeom prst="rect">
            <a:avLst/>
          </a:prstGeom>
          <a:solidFill>
            <a:srgbClr val="F5F9FF"/>
          </a:solidFill>
          <a:ln w="12700">
            <a:solidFill>
              <a:srgbClr val="BBDEF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5532120" y="2468880"/>
            <a:ext cx="3383280" cy="292608"/>
          </a:xfrm>
          <a:prstGeom prst="rect">
            <a:avLst/>
          </a:prstGeom>
          <a:solidFill>
            <a:srgbClr val="E3F2FD"/>
          </a:solidFill>
          <a:ln w="12700">
            <a:solidFill>
              <a:srgbClr val="BBDEF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623560" y="2514600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2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 वह बैंक गया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5577840" y="2816352"/>
            <a:ext cx="3291840" cy="347472"/>
          </a:xfrm>
          <a:prstGeom prst="rect">
            <a:avLst/>
          </a:prstGeom>
          <a:solidFill>
            <a:srgbClr val="2979FF">
              <a:alpha val="12000"/>
            </a:srgbClr>
          </a:solidFill>
          <a:ln w="12700">
            <a:solidFill>
              <a:srgbClr val="2979FF">
                <a:alpha val="4000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650992" y="2852928"/>
            <a:ext cx="3145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97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व्याख्या १: वित्तीय संस्थान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5577840" y="3218688"/>
            <a:ext cx="3291840" cy="347472"/>
          </a:xfrm>
          <a:prstGeom prst="rect">
            <a:avLst/>
          </a:prstGeom>
          <a:solidFill>
            <a:srgbClr val="00796B">
              <a:alpha val="12000"/>
            </a:srgbClr>
          </a:solidFill>
          <a:ln w="12700">
            <a:solidFill>
              <a:srgbClr val="00796B">
                <a:alpha val="4000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650992" y="3255264"/>
            <a:ext cx="3145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7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व्याख्या २: नदी का किनारा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5532120" y="3767328"/>
            <a:ext cx="3383280" cy="1170432"/>
          </a:xfrm>
          <a:prstGeom prst="rect">
            <a:avLst/>
          </a:prstGeom>
          <a:solidFill>
            <a:srgbClr val="F5F9FF"/>
          </a:solidFill>
          <a:ln w="12700">
            <a:solidFill>
              <a:srgbClr val="BBDEF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5532120" y="3767328"/>
            <a:ext cx="3383280" cy="292608"/>
          </a:xfrm>
          <a:prstGeom prst="rect">
            <a:avLst/>
          </a:prstGeom>
          <a:solidFill>
            <a:srgbClr val="E3F2FD"/>
          </a:solidFill>
          <a:ln w="12700">
            <a:solidFill>
              <a:srgbClr val="BBDEF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623560" y="3813048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2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 दिल टूट गया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5577840" y="4114800"/>
            <a:ext cx="3291840" cy="347472"/>
          </a:xfrm>
          <a:prstGeom prst="rect">
            <a:avLst/>
          </a:prstGeom>
          <a:solidFill>
            <a:srgbClr val="2979FF">
              <a:alpha val="12000"/>
            </a:srgbClr>
          </a:solidFill>
          <a:ln w="12700">
            <a:solidFill>
              <a:srgbClr val="2979FF">
                <a:alpha val="4000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650992" y="4151376"/>
            <a:ext cx="3145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97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व्याख्या १: हृदय को क्षति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5577840" y="4517136"/>
            <a:ext cx="3291840" cy="347472"/>
          </a:xfrm>
          <a:prstGeom prst="rect">
            <a:avLst/>
          </a:prstGeom>
          <a:solidFill>
            <a:srgbClr val="00796B">
              <a:alpha val="12000"/>
            </a:srgbClr>
          </a:solidFill>
          <a:ln w="12700">
            <a:solidFill>
              <a:srgbClr val="00796B">
                <a:alpha val="40000"/>
              </a:srgbClr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650992" y="4553712"/>
            <a:ext cx="3145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7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व्याख्या २: दुख / heartbreak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A2463"/>
          </a:solidFill>
          <a:ln w="12700">
            <a:solidFill>
              <a:srgbClr val="0A246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  Complete Tools &amp; Technologies Stack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20040" y="868680"/>
            <a:ext cx="283464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CEF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868680"/>
            <a:ext cx="2834640" cy="310896"/>
          </a:xfrm>
          <a:prstGeom prst="rect">
            <a:avLst/>
          </a:prstGeom>
          <a:solidFill>
            <a:srgbClr val="2979FF"/>
          </a:solidFill>
          <a:ln w="12700">
            <a:solidFill>
              <a:srgbClr val="2979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91440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Core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11480" y="1234440"/>
            <a:ext cx="1051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97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3.10+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490472" y="1234440"/>
            <a:ext cx="1600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language for model and backend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11480" y="1508760"/>
            <a:ext cx="1051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97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torch (PyTorch)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490472" y="1508760"/>
            <a:ext cx="1600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definition, training, inference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11480" y="1783080"/>
            <a:ext cx="1051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97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torch.nn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490472" y="1783080"/>
            <a:ext cx="1600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Embedding, Linear, RMSNorm, Dropout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11480" y="2057400"/>
            <a:ext cx="1051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97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torch.optim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490472" y="2057400"/>
            <a:ext cx="1600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AdamW optimizer + OneCycleLR scheduler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11480" y="2331720"/>
            <a:ext cx="1051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97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torch.cuda.amp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490472" y="2331720"/>
            <a:ext cx="1600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BF16 mixed-precision training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11480" y="2606040"/>
            <a:ext cx="1051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97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torch.utils.data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490472" y="2606040"/>
            <a:ext cx="1600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Dataset, DataLoader, pad_sequence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291840" y="868680"/>
            <a:ext cx="283464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CEF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91840" y="868680"/>
            <a:ext cx="2834640" cy="310896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83280" y="91440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Architecture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3383280" y="1234440"/>
            <a:ext cx="1051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79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nn.Embedding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462272" y="1234440"/>
            <a:ext cx="1600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embedding (32k vocab × 2048 dim)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383280" y="1508760"/>
            <a:ext cx="1051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79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nn.Linear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462272" y="1508760"/>
            <a:ext cx="1600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Q/K/V projections, FFN W1/W2/W3, LM head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383280" y="1783080"/>
            <a:ext cx="1051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79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nn.RMSNorm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462272" y="1783080"/>
            <a:ext cx="1600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Pre-normalization in each decoder block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383280" y="2057400"/>
            <a:ext cx="1051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79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nn.Dropout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462272" y="2057400"/>
            <a:ext cx="1600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Regularization (dropout=0.05 for small data)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383280" y="2331720"/>
            <a:ext cx="1051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79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F.silu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462272" y="2331720"/>
            <a:ext cx="1600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SwiGLU gate activation function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3383280" y="2606040"/>
            <a:ext cx="1051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79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F.softmax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462272" y="2606040"/>
            <a:ext cx="1600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 weights &amp; sampling probabilities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263640" y="868680"/>
            <a:ext cx="283464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CEF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263640" y="868680"/>
            <a:ext cx="2834640" cy="310896"/>
          </a:xfrm>
          <a:prstGeom prst="rect">
            <a:avLst/>
          </a:prstGeom>
          <a:solidFill>
            <a:srgbClr val="7E57C2"/>
          </a:solidFill>
          <a:ln w="12700">
            <a:solidFill>
              <a:srgbClr val="7E57C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355080" y="91440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Utilities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6355080" y="1234440"/>
            <a:ext cx="1051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E57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torch.utils.checkpoint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7434072" y="1234440"/>
            <a:ext cx="1600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checkpointing — saves 60% RAM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355080" y="1508760"/>
            <a:ext cx="1051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E57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clip_grad_norm_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7434072" y="1508760"/>
            <a:ext cx="1600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clipping at 0.5 for stability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6355080" y="1783080"/>
            <a:ext cx="1051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E57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GradScaler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7434072" y="1783080"/>
            <a:ext cx="1600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FP16 loss scaling on CUDA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6355080" y="2057400"/>
            <a:ext cx="1051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E57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CrossEntropyLoss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7434072" y="2057400"/>
            <a:ext cx="1600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smoothing=0.1, ignore PAD=0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6355080" y="2331720"/>
            <a:ext cx="1051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E57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sentencepiece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7434072" y="2331720"/>
            <a:ext cx="1600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BPE tokenizer for Hindi (32k vocab)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6355080" y="2606040"/>
            <a:ext cx="1051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E57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gc.collect()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7434072" y="2606040"/>
            <a:ext cx="1600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garbage collection between phases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320040" y="3017520"/>
            <a:ext cx="283464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CEF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320040" y="3017520"/>
            <a:ext cx="2834640" cy="310896"/>
          </a:xfrm>
          <a:prstGeom prst="rect">
            <a:avLst/>
          </a:prstGeom>
          <a:solidFill>
            <a:srgbClr val="F57F17"/>
          </a:solidFill>
          <a:ln w="12700">
            <a:solidFill>
              <a:srgbClr val="F57F17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11480" y="306324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&amp; Interface</a:t>
            </a:r>
            <a:endParaRPr lang="en-US" sz="1150" dirty="0"/>
          </a:p>
        </p:txBody>
      </p:sp>
      <p:sp>
        <p:nvSpPr>
          <p:cNvPr id="52" name="Text 50"/>
          <p:cNvSpPr/>
          <p:nvPr/>
        </p:nvSpPr>
        <p:spPr>
          <a:xfrm>
            <a:off x="411480" y="3383280"/>
            <a:ext cx="1051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7F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HTML5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1490472" y="3383280"/>
            <a:ext cx="1600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Single-file app, no framework needed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411480" y="3657600"/>
            <a:ext cx="1051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7F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CSS3 Grid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1490472" y="3657600"/>
            <a:ext cx="1600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2×2 meanings grid, auto-fill browse grid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411480" y="3931920"/>
            <a:ext cx="1051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7F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CSS Variables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1490472" y="3931920"/>
            <a:ext cx="1600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--navy, --blue2, --blue3, --ice2 palette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411480" y="4206240"/>
            <a:ext cx="1051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7F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Vanilla JS (ES6+)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1490472" y="4206240"/>
            <a:ext cx="1600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lookup, fuzzy match, DOM manipulation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411480" y="4480560"/>
            <a:ext cx="1051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7F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CSS @keyframes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1490472" y="4480560"/>
            <a:ext cx="1600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fadeIn animation on result cards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411480" y="4754880"/>
            <a:ext cx="1051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7F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CSS @media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1490472" y="4754880"/>
            <a:ext cx="1600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layout at 480px breakpoint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3291840" y="3017520"/>
            <a:ext cx="283464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CEF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5" name="Shape 63"/>
          <p:cNvSpPr/>
          <p:nvPr/>
        </p:nvSpPr>
        <p:spPr>
          <a:xfrm>
            <a:off x="3291840" y="3017520"/>
            <a:ext cx="2834640" cy="310896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3383280" y="306324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Colab / Notebook</a:t>
            </a:r>
            <a:endParaRPr lang="en-US" sz="1150" dirty="0"/>
          </a:p>
        </p:txBody>
      </p:sp>
      <p:sp>
        <p:nvSpPr>
          <p:cNvPr id="67" name="Text 65"/>
          <p:cNvSpPr/>
          <p:nvPr/>
        </p:nvSpPr>
        <p:spPr>
          <a:xfrm>
            <a:off x="3383280" y="3383280"/>
            <a:ext cx="1051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628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Google Colab</a:t>
            </a:r>
            <a:endParaRPr lang="en-US" sz="900" dirty="0"/>
          </a:p>
        </p:txBody>
      </p:sp>
      <p:sp>
        <p:nvSpPr>
          <p:cNvPr id="68" name="Text 66"/>
          <p:cNvSpPr/>
          <p:nvPr/>
        </p:nvSpPr>
        <p:spPr>
          <a:xfrm>
            <a:off x="4462272" y="3383280"/>
            <a:ext cx="1600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GPU environment for training</a:t>
            </a:r>
            <a:endParaRPr lang="en-US" sz="900" dirty="0"/>
          </a:p>
        </p:txBody>
      </p:sp>
      <p:sp>
        <p:nvSpPr>
          <p:cNvPr id="69" name="Text 67"/>
          <p:cNvSpPr/>
          <p:nvPr/>
        </p:nvSpPr>
        <p:spPr>
          <a:xfrm>
            <a:off x="3383280" y="3657600"/>
            <a:ext cx="1051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628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IPython.display</a:t>
            </a:r>
            <a:endParaRPr lang="en-US" sz="900" dirty="0"/>
          </a:p>
        </p:txBody>
      </p:sp>
      <p:sp>
        <p:nvSpPr>
          <p:cNvPr id="70" name="Text 68"/>
          <p:cNvSpPr/>
          <p:nvPr/>
        </p:nvSpPr>
        <p:spPr>
          <a:xfrm>
            <a:off x="4462272" y="3657600"/>
            <a:ext cx="1600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display(HTML()) for inline rendering</a:t>
            </a:r>
            <a:endParaRPr lang="en-US" sz="900" dirty="0"/>
          </a:p>
        </p:txBody>
      </p:sp>
      <p:sp>
        <p:nvSpPr>
          <p:cNvPr id="71" name="Text 69"/>
          <p:cNvSpPr/>
          <p:nvPr/>
        </p:nvSpPr>
        <p:spPr>
          <a:xfrm>
            <a:off x="3383280" y="3931920"/>
            <a:ext cx="1051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628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ipywidgets</a:t>
            </a:r>
            <a:endParaRPr lang="en-US" sz="900" dirty="0"/>
          </a:p>
        </p:txBody>
      </p:sp>
      <p:sp>
        <p:nvSpPr>
          <p:cNvPr id="72" name="Text 70"/>
          <p:cNvSpPr/>
          <p:nvPr/>
        </p:nvSpPr>
        <p:spPr>
          <a:xfrm>
            <a:off x="4462272" y="3931920"/>
            <a:ext cx="1600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input controls in notebook</a:t>
            </a:r>
            <a:endParaRPr lang="en-US" sz="900" dirty="0"/>
          </a:p>
        </p:txBody>
      </p:sp>
      <p:sp>
        <p:nvSpPr>
          <p:cNvPr id="73" name="Text 71"/>
          <p:cNvSpPr/>
          <p:nvPr/>
        </p:nvSpPr>
        <p:spPr>
          <a:xfrm>
            <a:off x="3383280" y="4206240"/>
            <a:ext cx="1051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628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torch.device</a:t>
            </a:r>
            <a:endParaRPr lang="en-US" sz="900" dirty="0"/>
          </a:p>
        </p:txBody>
      </p:sp>
      <p:sp>
        <p:nvSpPr>
          <p:cNvPr id="74" name="Text 72"/>
          <p:cNvSpPr/>
          <p:nvPr/>
        </p:nvSpPr>
        <p:spPr>
          <a:xfrm>
            <a:off x="4462272" y="4206240"/>
            <a:ext cx="1600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CUDA/CPU auto-detection and fallback</a:t>
            </a:r>
            <a:endParaRPr lang="en-US" sz="900" dirty="0"/>
          </a:p>
        </p:txBody>
      </p:sp>
      <p:sp>
        <p:nvSpPr>
          <p:cNvPr id="75" name="Text 73"/>
          <p:cNvSpPr/>
          <p:nvPr/>
        </p:nvSpPr>
        <p:spPr>
          <a:xfrm>
            <a:off x="3383280" y="4480560"/>
            <a:ext cx="1051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628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os.makedirs</a:t>
            </a:r>
            <a:endParaRPr lang="en-US" sz="900" dirty="0"/>
          </a:p>
        </p:txBody>
      </p:sp>
      <p:sp>
        <p:nvSpPr>
          <p:cNvPr id="76" name="Text 74"/>
          <p:cNvSpPr/>
          <p:nvPr/>
        </p:nvSpPr>
        <p:spPr>
          <a:xfrm>
            <a:off x="4462272" y="4480560"/>
            <a:ext cx="1600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 directory creation</a:t>
            </a:r>
            <a:endParaRPr lang="en-US" sz="900" dirty="0"/>
          </a:p>
        </p:txBody>
      </p:sp>
      <p:sp>
        <p:nvSpPr>
          <p:cNvPr id="77" name="Text 75"/>
          <p:cNvSpPr/>
          <p:nvPr/>
        </p:nvSpPr>
        <p:spPr>
          <a:xfrm>
            <a:off x="3383280" y="4754880"/>
            <a:ext cx="1051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628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torch.save/load</a:t>
            </a:r>
            <a:endParaRPr lang="en-US" sz="900" dirty="0"/>
          </a:p>
        </p:txBody>
      </p:sp>
      <p:sp>
        <p:nvSpPr>
          <p:cNvPr id="78" name="Text 76"/>
          <p:cNvSpPr/>
          <p:nvPr/>
        </p:nvSpPr>
        <p:spPr>
          <a:xfrm>
            <a:off x="4462272" y="4754880"/>
            <a:ext cx="1600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checkpoint save &amp; resume training</a:t>
            </a:r>
            <a:endParaRPr lang="en-US" sz="900" dirty="0"/>
          </a:p>
        </p:txBody>
      </p:sp>
      <p:sp>
        <p:nvSpPr>
          <p:cNvPr id="79" name="Shape 77"/>
          <p:cNvSpPr/>
          <p:nvPr/>
        </p:nvSpPr>
        <p:spPr>
          <a:xfrm>
            <a:off x="6263640" y="3017520"/>
            <a:ext cx="283464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CEF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0" name="Shape 78"/>
          <p:cNvSpPr/>
          <p:nvPr/>
        </p:nvSpPr>
        <p:spPr>
          <a:xfrm>
            <a:off x="6263640" y="3017520"/>
            <a:ext cx="2834640" cy="310896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6355080" y="306324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 &amp; Performance</a:t>
            </a:r>
            <a:endParaRPr lang="en-US" sz="1150" dirty="0"/>
          </a:p>
        </p:txBody>
      </p:sp>
      <p:sp>
        <p:nvSpPr>
          <p:cNvPr id="82" name="Text 80"/>
          <p:cNvSpPr/>
          <p:nvPr/>
        </p:nvSpPr>
        <p:spPr>
          <a:xfrm>
            <a:off x="6355080" y="3383280"/>
            <a:ext cx="1051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7D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torch.device('meta')</a:t>
            </a:r>
            <a:endParaRPr lang="en-US" sz="900" dirty="0"/>
          </a:p>
        </p:txBody>
      </p:sp>
      <p:sp>
        <p:nvSpPr>
          <p:cNvPr id="83" name="Text 81"/>
          <p:cNvSpPr/>
          <p:nvPr/>
        </p:nvSpPr>
        <p:spPr>
          <a:xfrm>
            <a:off x="7434072" y="3383280"/>
            <a:ext cx="1600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Zero-copy model init — no CPU RAM spike</a:t>
            </a:r>
            <a:endParaRPr lang="en-US" sz="900" dirty="0"/>
          </a:p>
        </p:txBody>
      </p:sp>
      <p:sp>
        <p:nvSpPr>
          <p:cNvPr id="84" name="Text 82"/>
          <p:cNvSpPr/>
          <p:nvPr/>
        </p:nvSpPr>
        <p:spPr>
          <a:xfrm>
            <a:off x="6355080" y="3657600"/>
            <a:ext cx="1051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7D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model.to_empty(device)</a:t>
            </a:r>
            <a:endParaRPr lang="en-US" sz="900" dirty="0"/>
          </a:p>
        </p:txBody>
      </p:sp>
      <p:sp>
        <p:nvSpPr>
          <p:cNvPr id="85" name="Text 83"/>
          <p:cNvSpPr/>
          <p:nvPr/>
        </p:nvSpPr>
        <p:spPr>
          <a:xfrm>
            <a:off x="7434072" y="3657600"/>
            <a:ext cx="1600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Materialize directly to GPU memory</a:t>
            </a:r>
            <a:endParaRPr lang="en-US" sz="900" dirty="0"/>
          </a:p>
        </p:txBody>
      </p:sp>
      <p:sp>
        <p:nvSpPr>
          <p:cNvPr id="86" name="Text 84"/>
          <p:cNvSpPr/>
          <p:nvPr/>
        </p:nvSpPr>
        <p:spPr>
          <a:xfrm>
            <a:off x="6355080" y="3931920"/>
            <a:ext cx="1051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7D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load_in_4bit</a:t>
            </a:r>
            <a:endParaRPr lang="en-US" sz="900" dirty="0"/>
          </a:p>
        </p:txBody>
      </p:sp>
      <p:sp>
        <p:nvSpPr>
          <p:cNvPr id="87" name="Text 85"/>
          <p:cNvSpPr/>
          <p:nvPr/>
        </p:nvSpPr>
        <p:spPr>
          <a:xfrm>
            <a:off x="7434072" y="3931920"/>
            <a:ext cx="1600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bitsandbytes 4-bit quantization (~1GB)</a:t>
            </a:r>
            <a:endParaRPr lang="en-US" sz="900" dirty="0"/>
          </a:p>
        </p:txBody>
      </p:sp>
      <p:sp>
        <p:nvSpPr>
          <p:cNvPr id="88" name="Text 86"/>
          <p:cNvSpPr/>
          <p:nvPr/>
        </p:nvSpPr>
        <p:spPr>
          <a:xfrm>
            <a:off x="6355080" y="4206240"/>
            <a:ext cx="1051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7D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num_workers=0</a:t>
            </a:r>
            <a:endParaRPr lang="en-US" sz="900" dirty="0"/>
          </a:p>
        </p:txBody>
      </p:sp>
      <p:sp>
        <p:nvSpPr>
          <p:cNvPr id="89" name="Text 87"/>
          <p:cNvSpPr/>
          <p:nvPr/>
        </p:nvSpPr>
        <p:spPr>
          <a:xfrm>
            <a:off x="7434072" y="4206240"/>
            <a:ext cx="1600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DataLoader RAM duplication</a:t>
            </a:r>
            <a:endParaRPr lang="en-US" sz="900" dirty="0"/>
          </a:p>
        </p:txBody>
      </p:sp>
      <p:sp>
        <p:nvSpPr>
          <p:cNvPr id="90" name="Text 88"/>
          <p:cNvSpPr/>
          <p:nvPr/>
        </p:nvSpPr>
        <p:spPr>
          <a:xfrm>
            <a:off x="6355080" y="4480560"/>
            <a:ext cx="1051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7D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accum_steps=16</a:t>
            </a:r>
            <a:endParaRPr lang="en-US" sz="900" dirty="0"/>
          </a:p>
        </p:txBody>
      </p:sp>
      <p:sp>
        <p:nvSpPr>
          <p:cNvPr id="91" name="Text 89"/>
          <p:cNvSpPr/>
          <p:nvPr/>
        </p:nvSpPr>
        <p:spPr>
          <a:xfrm>
            <a:off x="7434072" y="4480560"/>
            <a:ext cx="1600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Effective batch size without OOM</a:t>
            </a:r>
            <a:endParaRPr lang="en-US" sz="900" dirty="0"/>
          </a:p>
        </p:txBody>
      </p:sp>
      <p:sp>
        <p:nvSpPr>
          <p:cNvPr id="92" name="Text 90"/>
          <p:cNvSpPr/>
          <p:nvPr/>
        </p:nvSpPr>
        <p:spPr>
          <a:xfrm>
            <a:off x="6355080" y="4754880"/>
            <a:ext cx="1051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7D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empty_cache()</a:t>
            </a:r>
            <a:endParaRPr lang="en-US" sz="900" dirty="0"/>
          </a:p>
        </p:txBody>
      </p:sp>
      <p:sp>
        <p:nvSpPr>
          <p:cNvPr id="93" name="Text 91"/>
          <p:cNvSpPr/>
          <p:nvPr/>
        </p:nvSpPr>
        <p:spPr>
          <a:xfrm>
            <a:off x="7434072" y="4754880"/>
            <a:ext cx="1600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CUDA memory after train/inference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10b  Common Errors &amp; Fixes Applied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20040" y="896112"/>
            <a:ext cx="8503920" cy="640080"/>
          </a:xfrm>
          <a:prstGeom prst="rect">
            <a:avLst/>
          </a:prstGeom>
          <a:solidFill>
            <a:srgbClr val="F5F9FF"/>
          </a:solidFill>
          <a:ln w="12700">
            <a:solidFill>
              <a:srgbClr val="ECEF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896112"/>
            <a:ext cx="640080" cy="64008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89611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024128" y="932688"/>
            <a:ext cx="7726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SyntaxError: invalid decimal literal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1024128" y="1133856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Cause: CSS custom property '--r: 10px' inside Python string — Colab interprets it as Python code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892040" y="1133856"/>
            <a:ext cx="3858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Fix: Wrap ALL HTML in display(HTML("""...""")). Replace CSS --var with inline hex values inside Python strings.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0040" y="1600200"/>
            <a:ext cx="8503920" cy="640080"/>
          </a:xfrm>
          <a:prstGeom prst="rect">
            <a:avLst/>
          </a:prstGeom>
          <a:solidFill>
            <a:srgbClr val="F5F9FF"/>
          </a:solidFill>
          <a:ln w="12700">
            <a:solidFill>
              <a:srgbClr val="ECEF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" y="1600200"/>
            <a:ext cx="640080" cy="640080"/>
          </a:xfrm>
          <a:prstGeom prst="rect">
            <a:avLst/>
          </a:prstGeom>
          <a:solidFill>
            <a:srgbClr val="EF5350"/>
          </a:solidFill>
          <a:ln w="12700">
            <a:solidFill>
              <a:srgbClr val="EF535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16002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1024128" y="1636776"/>
            <a:ext cx="7726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&lt;UNK&gt; tokens in output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1024128" y="1837944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Cause: Tokenizer mapped unseen words to &lt;UNK&gt; ID=3 because encode() didn't auto-add new vocab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892040" y="1837944"/>
            <a:ext cx="3858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Fix: Modified encode() to call _add_word() for every token — vocabulary grows dynamically at inference time.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20040" y="2304288"/>
            <a:ext cx="8503920" cy="640080"/>
          </a:xfrm>
          <a:prstGeom prst="rect">
            <a:avLst/>
          </a:prstGeom>
          <a:solidFill>
            <a:srgbClr val="F5F9FF"/>
          </a:solidFill>
          <a:ln w="12700">
            <a:solidFill>
              <a:srgbClr val="ECEF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" y="2304288"/>
            <a:ext cx="640080" cy="640080"/>
          </a:xfrm>
          <a:prstGeom prst="rect">
            <a:avLst/>
          </a:prstGeom>
          <a:solidFill>
            <a:srgbClr val="EF5350"/>
          </a:solidFill>
          <a:ln w="12700">
            <a:solidFill>
              <a:srgbClr val="EF535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230428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1024128" y="2340864"/>
            <a:ext cx="7726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Random / gibberish output words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1024128" y="2542032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Cause: lr=2e-4 too slow for 30-sentence dataset. Model never converged in 80 epochs. Output was noise.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892040" y="2542032"/>
            <a:ext cx="3858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Fix: Increased lr to 5e-3. Switched to OneCycleLR scheduler. Increased epochs to 200. Added label smoothing.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20040" y="3008376"/>
            <a:ext cx="8503920" cy="640080"/>
          </a:xfrm>
          <a:prstGeom prst="rect">
            <a:avLst/>
          </a:prstGeom>
          <a:solidFill>
            <a:srgbClr val="F5F9FF"/>
          </a:solidFill>
          <a:ln w="12700">
            <a:solidFill>
              <a:srgbClr val="ECEF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0040" y="3008376"/>
            <a:ext cx="640080" cy="640080"/>
          </a:xfrm>
          <a:prstGeom prst="rect">
            <a:avLst/>
          </a:prstGeom>
          <a:solidFill>
            <a:srgbClr val="F57F17"/>
          </a:solidFill>
          <a:ln w="12700">
            <a:solidFill>
              <a:srgbClr val="F57F1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0040" y="3008376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1024128" y="3044952"/>
            <a:ext cx="7726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Session crashed — out of RAM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1024128" y="3246120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Cause: Instantiating 2B params on CPU: HindiAmbiguity2BTransformer() allocates ~8GB RAM instantly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892040" y="3246120"/>
            <a:ext cx="3858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Fix: torch.device('meta') + to_empty(device). Auto-detect GPU VRAM and pick matching config size.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20040" y="3712464"/>
            <a:ext cx="8503920" cy="640080"/>
          </a:xfrm>
          <a:prstGeom prst="rect">
            <a:avLst/>
          </a:prstGeom>
          <a:solidFill>
            <a:srgbClr val="F5F9FF"/>
          </a:solidFill>
          <a:ln w="12700">
            <a:solidFill>
              <a:srgbClr val="ECEF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20040" y="3712464"/>
            <a:ext cx="640080" cy="640080"/>
          </a:xfrm>
          <a:prstGeom prst="rect">
            <a:avLst/>
          </a:prstGeom>
          <a:solidFill>
            <a:srgbClr val="FBC02D"/>
          </a:solidFill>
          <a:ln w="12700">
            <a:solidFill>
              <a:srgbClr val="FBC02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0040" y="3712464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1024128" y="3749040"/>
            <a:ext cx="7726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Interpretations mixed up / swapped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1024128" y="3950208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Cause: AmbiguityDataset had incorrect SOS/EOS stripping — boundaries between int1 and int2 misaligned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892040" y="3950208"/>
            <a:ext cx="3858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Fix: Fixed: src[1:-1] + [int1_id] + int1[1:-1] + [sep_id] + [int2_id] + int2[1:-1] + [eos_id]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320040" y="4416552"/>
            <a:ext cx="8503920" cy="640080"/>
          </a:xfrm>
          <a:prstGeom prst="rect">
            <a:avLst/>
          </a:prstGeom>
          <a:solidFill>
            <a:srgbClr val="F5F9FF"/>
          </a:solidFill>
          <a:ln w="12700">
            <a:solidFill>
              <a:srgbClr val="ECEF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320040" y="4416552"/>
            <a:ext cx="640080" cy="640080"/>
          </a:xfrm>
          <a:prstGeom prst="rect">
            <a:avLst/>
          </a:prstGeom>
          <a:solidFill>
            <a:srgbClr val="FBC02D"/>
          </a:solidFill>
          <a:ln w="12700">
            <a:solidFill>
              <a:srgbClr val="FBC02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20040" y="441655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1024128" y="4453128"/>
            <a:ext cx="7726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vocab_size mismatch at runtime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1024128" y="4654296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Cause: config.vocab_size set to 32000 BEFORE tokenizer.fit() — actual vocab was only 312 tokens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4892040" y="4654296"/>
            <a:ext cx="3858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Fix: Moved config.vocab_size = tokenizer.vocab_size assignment to AFTER tokenizer.fit(all_texts) call.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246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979FF"/>
          </a:solidFill>
          <a:ln w="12700">
            <a:solidFill>
              <a:srgbClr val="2979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979408" y="0"/>
            <a:ext cx="164592" cy="5143500"/>
          </a:xfrm>
          <a:prstGeom prst="rect">
            <a:avLst/>
          </a:prstGeom>
          <a:solidFill>
            <a:srgbClr val="2979FF">
              <a:alpha val="30000"/>
            </a:srgbClr>
          </a:solidFill>
          <a:ln w="12700">
            <a:solidFill>
              <a:srgbClr val="2979FF">
                <a:alpha val="3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743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spc="100" kern="0" dirty="0">
                <a:solidFill>
                  <a:srgbClr val="297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  Conclusion &amp; Future Work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841248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Was Built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1188720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60-entry rule-based Hindi ambiguity database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57200" y="1536192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6 ambiguity types: Lexical, Syntactic, Semantic, Pragmatic, Idiomatic, Referential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57200" y="1883664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100+ Hinglish → Hindi input mappings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57200" y="2231136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Fuzzy word-overlap search algorithm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57200" y="2578608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Blue-white responsive HTML/CSS/JS interface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57200" y="2926080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2B parameter decoder-only Transformer (RoPE + GQA + SwiGLU + RMSNorm)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57200" y="3273552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Full Colab notebook with display(HTML()) fix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57200" y="3621024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RAM-safe model initialization via meta device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663440" y="841248"/>
            <a:ext cx="4206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97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663440" y="1188720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🔢  Scale to 7B parameters using LoRA fine-tuning on IndicBERT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663440" y="1536192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 Expand database to 500+ entries with crowd-sourced Hindi corpora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663440" y="1883664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Integrate IndicNLP tokenizer for superior Hindi subword handling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663440" y="2231136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Add context window (surrounding sentences) for pragmatic disambiguation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663440" y="2578608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BLEU score &amp; human evaluation against gold-standard interpretations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663440" y="2926080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🗣️  Speech input: ASR → ambiguity resolver pipeline for voice interfaces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663440" y="3273552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🔌  REST API deployment with FastAPI + streaming response support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663440" y="3621024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 Mobile-first PWA interface with offline Hinglish-to-Hindi mapping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572000" y="841248"/>
            <a:ext cx="0" cy="3108960"/>
          </a:xfrm>
          <a:prstGeom prst="line">
            <a:avLst/>
          </a:prstGeom>
          <a:noFill/>
          <a:ln w="12700">
            <a:solidFill>
              <a:srgbClr val="1976D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0040" y="4434840"/>
            <a:ext cx="8503920" cy="594360"/>
          </a:xfrm>
          <a:prstGeom prst="rect">
            <a:avLst/>
          </a:prstGeom>
          <a:solidFill>
            <a:srgbClr val="2979FF">
              <a:alpha val="20000"/>
            </a:srgbClr>
          </a:solidFill>
          <a:ln w="12700">
            <a:solidFill>
              <a:srgbClr val="2979FF">
                <a:alpha val="4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11480" y="4572000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हिंदी भाषा की अस्पष्टता को समझना — Bridging human language ambiguity with AI-powered dual-interpretation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Hindi Ambiguity Resolution System</dc:title>
  <dc:subject>PptxGenJS Presentation</dc:subject>
  <dc:creator>AI/NLP Research</dc:creator>
  <cp:lastModifiedBy>AI/NLP Research</cp:lastModifiedBy>
  <cp:revision>1</cp:revision>
  <dcterms:created xsi:type="dcterms:W3CDTF">2026-04-19T16:25:49Z</dcterms:created>
  <dcterms:modified xsi:type="dcterms:W3CDTF">2026-04-19T16:25:49Z</dcterms:modified>
</cp:coreProperties>
</file>